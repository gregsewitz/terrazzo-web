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5EC"/>
        </a:solidFill>
      </p:bgPr>
    </p:bg>
    <p:spTree>
      <p:nvGrpSpPr>
        <p:cNvPr id="1" name=""/>
        <p:cNvGrpSpPr/>
        <p:nvPr/>
      </p:nvGrpSpPr>
      <p:grpSpPr>
        <a:xfrm>
          <a:off x="0" y="0"/>
          <a:ext cx="0" cy="0"/>
          <a:chOff x="0" y="0"/>
          <a:chExt cx="0" cy="0"/>
        </a:xfrm>
      </p:grpSpPr>
      <p:sp>
        <p:nvSpPr>
          <p:cNvPr id="2" name="Shape 0"/>
          <p:cNvSpPr/>
          <p:nvPr/>
        </p:nvSpPr>
        <p:spPr>
          <a:xfrm>
            <a:off x="-1371600" y="-914400"/>
            <a:ext cx="4572000" cy="4572000"/>
          </a:xfrm>
          <a:prstGeom prst="ellipse">
            <a:avLst/>
          </a:prstGeom>
          <a:solidFill>
            <a:srgbClr val="5EC4B2">
              <a:alpha val="60000"/>
            </a:srgbClr>
          </a:solidFill>
          <a:ln/>
        </p:spPr>
      </p:sp>
      <p:sp>
        <p:nvSpPr>
          <p:cNvPr id="3" name="Shape 1"/>
          <p:cNvSpPr/>
          <p:nvPr/>
        </p:nvSpPr>
        <p:spPr>
          <a:xfrm>
            <a:off x="6400800" y="2743200"/>
            <a:ext cx="4114800" cy="4114800"/>
          </a:xfrm>
          <a:prstGeom prst="ellipse">
            <a:avLst/>
          </a:prstGeom>
          <a:solidFill>
            <a:srgbClr val="E86F5A">
              <a:alpha val="70000"/>
            </a:srgbClr>
          </a:solidFill>
          <a:ln/>
        </p:spPr>
      </p:sp>
      <p:sp>
        <p:nvSpPr>
          <p:cNvPr id="4" name="Shape 2"/>
          <p:cNvSpPr/>
          <p:nvPr/>
        </p:nvSpPr>
        <p:spPr>
          <a:xfrm>
            <a:off x="5029200" y="-1828800"/>
            <a:ext cx="2743200" cy="2743200"/>
          </a:xfrm>
          <a:prstGeom prst="ellipse">
            <a:avLst/>
          </a:prstGeom>
          <a:solidFill>
            <a:srgbClr val="E8B84B">
              <a:alpha val="65000"/>
            </a:srgbClr>
          </a:solidFill>
          <a:ln/>
        </p:spPr>
      </p:sp>
      <p:sp>
        <p:nvSpPr>
          <p:cNvPr id="5" name="Shape 3"/>
          <p:cNvSpPr/>
          <p:nvPr/>
        </p:nvSpPr>
        <p:spPr>
          <a:xfrm>
            <a:off x="-457200" y="3200400"/>
            <a:ext cx="3657600" cy="2743200"/>
          </a:xfrm>
          <a:prstGeom prst="rect">
            <a:avLst/>
          </a:prstGeom>
          <a:solidFill>
            <a:srgbClr val="1A2D4A">
              <a:alpha val="75000"/>
            </a:srgbClr>
          </a:solidFill>
          <a:ln/>
        </p:spPr>
      </p:sp>
      <p:sp>
        <p:nvSpPr>
          <p:cNvPr id="6" name="Text 4"/>
          <p:cNvSpPr/>
          <p:nvPr/>
        </p:nvSpPr>
        <p:spPr>
          <a:xfrm>
            <a:off x="731520" y="1097280"/>
            <a:ext cx="7680960" cy="1097280"/>
          </a:xfrm>
          <a:prstGeom prst="rect">
            <a:avLst/>
          </a:prstGeom>
          <a:noFill/>
          <a:ln/>
        </p:spPr>
        <p:txBody>
          <a:bodyPr wrap="square" lIns="0" tIns="0" rIns="0" bIns="0" rtlCol="0" anchor="ctr"/>
          <a:lstStyle/>
          <a:p>
            <a:pPr algn="ctr" indent="0" marL="0">
              <a:buNone/>
            </a:pPr>
            <a:r>
              <a:rPr lang="en-US" sz="6000" b="1" spc="600" kern="0" dirty="0">
                <a:solidFill>
                  <a:srgbClr val="1A2D4A"/>
                </a:solidFill>
                <a:latin typeface="Georgia" pitchFamily="34" charset="0"/>
                <a:ea typeface="Georgia" pitchFamily="34" charset="-122"/>
                <a:cs typeface="Georgia" pitchFamily="34" charset="-120"/>
              </a:rPr>
              <a:t>TERRAZZO</a:t>
            </a:r>
            <a:endParaRPr lang="en-US" sz="6000" dirty="0"/>
          </a:p>
        </p:txBody>
      </p:sp>
      <p:sp>
        <p:nvSpPr>
          <p:cNvPr id="7" name="Shape 5"/>
          <p:cNvSpPr/>
          <p:nvPr/>
        </p:nvSpPr>
        <p:spPr>
          <a:xfrm>
            <a:off x="2743200" y="2286000"/>
            <a:ext cx="3657600" cy="0"/>
          </a:xfrm>
          <a:prstGeom prst="line">
            <a:avLst/>
          </a:prstGeom>
          <a:noFill/>
          <a:ln w="25400">
            <a:solidFill>
              <a:srgbClr val="E86F5A"/>
            </a:solidFill>
            <a:prstDash val="solid"/>
          </a:ln>
        </p:spPr>
      </p:sp>
      <p:sp>
        <p:nvSpPr>
          <p:cNvPr id="8" name="Text 6"/>
          <p:cNvSpPr/>
          <p:nvPr/>
        </p:nvSpPr>
        <p:spPr>
          <a:xfrm>
            <a:off x="731520" y="2468880"/>
            <a:ext cx="7680960" cy="457200"/>
          </a:xfrm>
          <a:prstGeom prst="rect">
            <a:avLst/>
          </a:prstGeom>
          <a:noFill/>
          <a:ln/>
        </p:spPr>
        <p:txBody>
          <a:bodyPr wrap="square" lIns="0" tIns="0" rIns="0" bIns="0" rtlCol="0" anchor="ctr"/>
          <a:lstStyle/>
          <a:p>
            <a:pPr algn="ctr" indent="0" marL="0">
              <a:buNone/>
            </a:pPr>
            <a:r>
              <a:rPr lang="en-US" sz="1800" spc="400" kern="0" dirty="0">
                <a:solidFill>
                  <a:srgbClr val="E86F5A"/>
                </a:solidFill>
                <a:latin typeface="Calibri" pitchFamily="34" charset="0"/>
                <a:ea typeface="Calibri" pitchFamily="34" charset="-122"/>
                <a:cs typeface="Calibri" pitchFamily="34" charset="-120"/>
              </a:rPr>
              <a:t>KINETIC DREAMER</a:t>
            </a:r>
            <a:endParaRPr lang="en-US" sz="1800" dirty="0"/>
          </a:p>
        </p:txBody>
      </p:sp>
      <p:sp>
        <p:nvSpPr>
          <p:cNvPr id="9" name="Text 7"/>
          <p:cNvSpPr/>
          <p:nvPr/>
        </p:nvSpPr>
        <p:spPr>
          <a:xfrm>
            <a:off x="731520" y="3017520"/>
            <a:ext cx="7680960" cy="365760"/>
          </a:xfrm>
          <a:prstGeom prst="rect">
            <a:avLst/>
          </a:prstGeom>
          <a:noFill/>
          <a:ln/>
        </p:spPr>
        <p:txBody>
          <a:bodyPr wrap="square" lIns="0" tIns="0" rIns="0" bIns="0" rtlCol="0" anchor="ctr"/>
          <a:lstStyle/>
          <a:p>
            <a:pPr algn="ctr" indent="0" marL="0">
              <a:buNone/>
            </a:pPr>
            <a:r>
              <a:rPr lang="en-US" sz="1400" dirty="0">
                <a:solidFill>
                  <a:srgbClr val="A89888"/>
                </a:solidFill>
                <a:latin typeface="Calibri" pitchFamily="34" charset="0"/>
                <a:ea typeface="Calibri" pitchFamily="34" charset="-122"/>
                <a:cs typeface="Calibri" pitchFamily="34" charset="-120"/>
              </a:rPr>
              <a:t>Brand Identity &amp; Positioning Guide</a:t>
            </a:r>
            <a:endParaRPr lang="en-US" sz="1400" dirty="0"/>
          </a:p>
        </p:txBody>
      </p:sp>
      <p:sp>
        <p:nvSpPr>
          <p:cNvPr id="10" name="Text 8"/>
          <p:cNvSpPr/>
          <p:nvPr/>
        </p:nvSpPr>
        <p:spPr>
          <a:xfrm>
            <a:off x="731520" y="4206240"/>
            <a:ext cx="7680960" cy="320040"/>
          </a:xfrm>
          <a:prstGeom prst="rect">
            <a:avLst/>
          </a:prstGeom>
          <a:noFill/>
          <a:ln/>
        </p:spPr>
        <p:txBody>
          <a:bodyPr wrap="square" lIns="0" tIns="0" rIns="0" bIns="0" rtlCol="0" anchor="ctr"/>
          <a:lstStyle/>
          <a:p>
            <a:pPr algn="ctr" indent="0" marL="0">
              <a:buNone/>
            </a:pPr>
            <a:r>
              <a:rPr lang="en-US" sz="1000" dirty="0">
                <a:solidFill>
                  <a:srgbClr val="A89888"/>
                </a:solidFill>
                <a:latin typeface="Calibri" pitchFamily="34" charset="0"/>
                <a:ea typeface="Calibri" pitchFamily="34" charset="-122"/>
                <a:cs typeface="Calibri" pitchFamily="34" charset="-120"/>
              </a:rPr>
              <a:t>Confidential — March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C"/>
        </a:solidFill>
      </p:bgPr>
    </p:bg>
    <p:spTree>
      <p:nvGrpSpPr>
        <p:cNvPr id="1" name=""/>
        <p:cNvGrpSpPr/>
        <p:nvPr/>
      </p:nvGrpSpPr>
      <p:grpSpPr>
        <a:xfrm>
          <a:off x="0" y="0"/>
          <a:ext cx="0" cy="0"/>
          <a:chOff x="0" y="0"/>
          <a:chExt cx="0" cy="0"/>
        </a:xfrm>
      </p:grpSpPr>
      <p:sp>
        <p:nvSpPr>
          <p:cNvPr id="2" name="Text 0"/>
          <p:cNvSpPr/>
          <p:nvPr/>
        </p:nvSpPr>
        <p:spPr>
          <a:xfrm>
            <a:off x="457200" y="4709160"/>
            <a:ext cx="3657600" cy="320040"/>
          </a:xfrm>
          <a:prstGeom prst="rect">
            <a:avLst/>
          </a:prstGeom>
          <a:noFill/>
          <a:ln/>
        </p:spPr>
        <p:txBody>
          <a:bodyPr wrap="square" lIns="0" tIns="0" rIns="0" bIns="0" rtlCol="0" anchor="ctr"/>
          <a:lstStyle/>
          <a:p>
            <a:pPr indent="0" marL="0">
              <a:buNone/>
            </a:pPr>
            <a:r>
              <a:rPr lang="en-US" sz="800" dirty="0">
                <a:solidFill>
                  <a:srgbClr val="A89888"/>
                </a:solidFill>
                <a:latin typeface="Calibri" pitchFamily="34" charset="0"/>
                <a:ea typeface="Calibri" pitchFamily="34" charset="-122"/>
                <a:cs typeface="Calibri" pitchFamily="34" charset="-120"/>
              </a:rPr>
              <a:t>CONFIDENTIAL  ·  TERRAZZO</a:t>
            </a:r>
            <a:endParaRPr lang="en-US" sz="800" dirty="0"/>
          </a:p>
        </p:txBody>
      </p:sp>
      <p:sp>
        <p:nvSpPr>
          <p:cNvPr id="3" name="Text 1"/>
          <p:cNvSpPr/>
          <p:nvPr/>
        </p:nvSpPr>
        <p:spPr>
          <a:xfrm>
            <a:off x="731520" y="365760"/>
            <a:ext cx="7315200" cy="594360"/>
          </a:xfrm>
          <a:prstGeom prst="rect">
            <a:avLst/>
          </a:prstGeom>
          <a:noFill/>
          <a:ln/>
        </p:spPr>
        <p:txBody>
          <a:bodyPr wrap="square" lIns="0" tIns="0" rIns="0" bIns="0" rtlCol="0" anchor="ctr"/>
          <a:lstStyle/>
          <a:p>
            <a:pPr indent="0" marL="0">
              <a:buNone/>
            </a:pPr>
            <a:r>
              <a:rPr lang="en-US" sz="3200" b="1" dirty="0">
                <a:solidFill>
                  <a:srgbClr val="1A2D4A"/>
                </a:solidFill>
                <a:latin typeface="Georgia" pitchFamily="34" charset="0"/>
                <a:ea typeface="Georgia" pitchFamily="34" charset="-122"/>
                <a:cs typeface="Georgia" pitchFamily="34" charset="-120"/>
              </a:rPr>
              <a:t>Brand Overview</a:t>
            </a:r>
            <a:endParaRPr lang="en-US" sz="3200" dirty="0"/>
          </a:p>
        </p:txBody>
      </p:sp>
      <p:sp>
        <p:nvSpPr>
          <p:cNvPr id="4" name="Shape 2"/>
          <p:cNvSpPr/>
          <p:nvPr/>
        </p:nvSpPr>
        <p:spPr>
          <a:xfrm>
            <a:off x="731520" y="1051560"/>
            <a:ext cx="7680960" cy="0"/>
          </a:xfrm>
          <a:prstGeom prst="line">
            <a:avLst/>
          </a:prstGeom>
          <a:noFill/>
          <a:ln w="19050">
            <a:solidFill>
              <a:srgbClr val="E86F5A"/>
            </a:solidFill>
            <a:prstDash val="solid"/>
          </a:ln>
        </p:spPr>
      </p:sp>
      <p:sp>
        <p:nvSpPr>
          <p:cNvPr id="5" name="Text 3"/>
          <p:cNvSpPr/>
          <p:nvPr/>
        </p:nvSpPr>
        <p:spPr>
          <a:xfrm>
            <a:off x="731520" y="128016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What Is Terrazzo?</a:t>
            </a:r>
            <a:endParaRPr lang="en-US" sz="1600" dirty="0"/>
          </a:p>
        </p:txBody>
      </p:sp>
      <p:sp>
        <p:nvSpPr>
          <p:cNvPr id="6" name="Text 4"/>
          <p:cNvSpPr/>
          <p:nvPr/>
        </p:nvSpPr>
        <p:spPr>
          <a:xfrm>
            <a:off x="731520" y="1737360"/>
            <a:ext cx="7680960" cy="822960"/>
          </a:xfrm>
          <a:prstGeom prst="rect">
            <a:avLst/>
          </a:prstGeom>
          <a:noFill/>
          <a:ln/>
        </p:spPr>
        <p:txBody>
          <a:bodyPr wrap="square" lIns="0" tIns="0" rIns="0" bIns="0" rtlCol="0" anchor="ctr"/>
          <a:lstStyle/>
          <a:p>
            <a:pPr indent="0" marL="0">
              <a:lnSpc>
                <a:spcPct val="130000"/>
              </a:lnSpc>
              <a:buNone/>
            </a:pPr>
            <a:r>
              <a:rPr lang="en-US" sz="1300" dirty="0">
                <a:solidFill>
                  <a:srgbClr val="2D2D2D"/>
                </a:solidFill>
                <a:latin typeface="Calibri" pitchFamily="34" charset="0"/>
                <a:ea typeface="Calibri" pitchFamily="34" charset="-122"/>
                <a:cs typeface="Calibri" pitchFamily="34" charset="-120"/>
              </a:rPr>
              <a:t>Terrazzo is a travel app for the culturally curious. It helps travelers discover destinations through the lens of art, architecture, food, and local craft — not tourist checklists. Think of it as a modern Grand Tour for people who want to feel a place, not just see it.</a:t>
            </a:r>
            <a:endParaRPr lang="en-US" sz="1300" dirty="0"/>
          </a:p>
        </p:txBody>
      </p:sp>
      <p:sp>
        <p:nvSpPr>
          <p:cNvPr id="7" name="Text 5"/>
          <p:cNvSpPr/>
          <p:nvPr/>
        </p:nvSpPr>
        <p:spPr>
          <a:xfrm>
            <a:off x="731520" y="269748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The One-Liner</a:t>
            </a:r>
            <a:endParaRPr lang="en-US" sz="1600" dirty="0"/>
          </a:p>
        </p:txBody>
      </p:sp>
      <p:sp>
        <p:nvSpPr>
          <p:cNvPr id="8" name="Shape 6"/>
          <p:cNvSpPr/>
          <p:nvPr/>
        </p:nvSpPr>
        <p:spPr>
          <a:xfrm>
            <a:off x="731520" y="3108960"/>
            <a:ext cx="54864" cy="457200"/>
          </a:xfrm>
          <a:prstGeom prst="rect">
            <a:avLst/>
          </a:prstGeom>
          <a:solidFill>
            <a:srgbClr val="E86F5A"/>
          </a:solidFill>
          <a:ln/>
        </p:spPr>
      </p:sp>
      <p:sp>
        <p:nvSpPr>
          <p:cNvPr id="9" name="Text 7"/>
          <p:cNvSpPr/>
          <p:nvPr/>
        </p:nvSpPr>
        <p:spPr>
          <a:xfrm>
            <a:off x="1005840" y="3063240"/>
            <a:ext cx="6400800" cy="502920"/>
          </a:xfrm>
          <a:prstGeom prst="rect">
            <a:avLst/>
          </a:prstGeom>
          <a:noFill/>
          <a:ln/>
        </p:spPr>
        <p:txBody>
          <a:bodyPr wrap="square" lIns="0" tIns="0" rIns="0" bIns="0" rtlCol="0" anchor="ctr"/>
          <a:lstStyle/>
          <a:p>
            <a:pPr indent="0" marL="0">
              <a:buNone/>
            </a:pPr>
            <a:r>
              <a:rPr lang="en-US" sz="1500" i="1" dirty="0">
                <a:solidFill>
                  <a:srgbClr val="1A2D4A"/>
                </a:solidFill>
                <a:latin typeface="Georgia" pitchFamily="34" charset="0"/>
                <a:ea typeface="Georgia" pitchFamily="34" charset="-122"/>
                <a:cs typeface="Georgia" pitchFamily="34" charset="-120"/>
              </a:rPr>
              <a:t>Travel like it's a masterpiece in motion.</a:t>
            </a:r>
            <a:endParaRPr lang="en-US" sz="1500" dirty="0"/>
          </a:p>
        </p:txBody>
      </p:sp>
      <p:sp>
        <p:nvSpPr>
          <p:cNvPr id="10" name="Text 8"/>
          <p:cNvSpPr/>
          <p:nvPr/>
        </p:nvSpPr>
        <p:spPr>
          <a:xfrm>
            <a:off x="731520" y="374904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Who It's For</a:t>
            </a:r>
            <a:endParaRPr lang="en-US" sz="1600" dirty="0"/>
          </a:p>
        </p:txBody>
      </p:sp>
      <p:sp>
        <p:nvSpPr>
          <p:cNvPr id="11" name="Text 9"/>
          <p:cNvSpPr/>
          <p:nvPr/>
        </p:nvSpPr>
        <p:spPr>
          <a:xfrm>
            <a:off x="731520" y="4160520"/>
            <a:ext cx="7680960" cy="502920"/>
          </a:xfrm>
          <a:prstGeom prst="rect">
            <a:avLst/>
          </a:prstGeom>
          <a:noFill/>
          <a:ln/>
        </p:spPr>
        <p:txBody>
          <a:bodyPr wrap="square" lIns="0" tIns="0" rIns="0" bIns="0" rtlCol="0" anchor="ctr"/>
          <a:lstStyle/>
          <a:p>
            <a:pPr indent="0" marL="0">
              <a:lnSpc>
                <a:spcPct val="125000"/>
              </a:lnSpc>
              <a:buNone/>
            </a:pPr>
            <a:r>
              <a:rPr lang="en-US" sz="1150" dirty="0">
                <a:solidFill>
                  <a:srgbClr val="2D2D2D"/>
                </a:solidFill>
                <a:latin typeface="Calibri" pitchFamily="34" charset="0"/>
                <a:ea typeface="Calibri" pitchFamily="34" charset="-122"/>
                <a:cs typeface="Calibri" pitchFamily="34" charset="-120"/>
              </a:rPr>
              <a:t>Design-minded millennials and Gen-Z travelers (25–40) who plan trips around gallery openings, neighborhood walks, and regional cuisine rather than resort packages. They read Monocle, follow architecture accounts, and choose hotels for the lobby, not the pool.</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EC"/>
        </a:solidFill>
      </p:bgPr>
    </p:bg>
    <p:spTree>
      <p:nvGrpSpPr>
        <p:cNvPr id="1" name=""/>
        <p:cNvGrpSpPr/>
        <p:nvPr/>
      </p:nvGrpSpPr>
      <p:grpSpPr>
        <a:xfrm>
          <a:off x="0" y="0"/>
          <a:ext cx="0" cy="0"/>
          <a:chOff x="0" y="0"/>
          <a:chExt cx="0" cy="0"/>
        </a:xfrm>
      </p:grpSpPr>
      <p:sp>
        <p:nvSpPr>
          <p:cNvPr id="2" name="Text 0"/>
          <p:cNvSpPr/>
          <p:nvPr/>
        </p:nvSpPr>
        <p:spPr>
          <a:xfrm>
            <a:off x="457200" y="4709160"/>
            <a:ext cx="3657600" cy="320040"/>
          </a:xfrm>
          <a:prstGeom prst="rect">
            <a:avLst/>
          </a:prstGeom>
          <a:noFill/>
          <a:ln/>
        </p:spPr>
        <p:txBody>
          <a:bodyPr wrap="square" lIns="0" tIns="0" rIns="0" bIns="0" rtlCol="0" anchor="ctr"/>
          <a:lstStyle/>
          <a:p>
            <a:pPr indent="0" marL="0">
              <a:buNone/>
            </a:pPr>
            <a:r>
              <a:rPr lang="en-US" sz="800" dirty="0">
                <a:solidFill>
                  <a:srgbClr val="A89888"/>
                </a:solidFill>
                <a:latin typeface="Calibri" pitchFamily="34" charset="0"/>
                <a:ea typeface="Calibri" pitchFamily="34" charset="-122"/>
                <a:cs typeface="Calibri" pitchFamily="34" charset="-120"/>
              </a:rPr>
              <a:t>CONFIDENTIAL  ·  TERRAZZO</a:t>
            </a:r>
            <a:endParaRPr lang="en-US" sz="800" dirty="0"/>
          </a:p>
        </p:txBody>
      </p:sp>
      <p:sp>
        <p:nvSpPr>
          <p:cNvPr id="3" name="Text 1"/>
          <p:cNvSpPr/>
          <p:nvPr/>
        </p:nvSpPr>
        <p:spPr>
          <a:xfrm>
            <a:off x="731520" y="365760"/>
            <a:ext cx="7680960" cy="594360"/>
          </a:xfrm>
          <a:prstGeom prst="rect">
            <a:avLst/>
          </a:prstGeom>
          <a:noFill/>
          <a:ln/>
        </p:spPr>
        <p:txBody>
          <a:bodyPr wrap="square" lIns="0" tIns="0" rIns="0" bIns="0" rtlCol="0" anchor="ctr"/>
          <a:lstStyle/>
          <a:p>
            <a:pPr indent="0" marL="0">
              <a:buNone/>
            </a:pPr>
            <a:r>
              <a:rPr lang="en-US" sz="2800" b="1" dirty="0">
                <a:solidFill>
                  <a:srgbClr val="1A2D4A"/>
                </a:solidFill>
                <a:latin typeface="Georgia" pitchFamily="34" charset="0"/>
                <a:ea typeface="Georgia" pitchFamily="34" charset="-122"/>
                <a:cs typeface="Georgia" pitchFamily="34" charset="-120"/>
              </a:rPr>
              <a:t>Creative Direction: Kinetic Dreamer</a:t>
            </a:r>
            <a:endParaRPr lang="en-US" sz="2800" dirty="0"/>
          </a:p>
        </p:txBody>
      </p:sp>
      <p:sp>
        <p:nvSpPr>
          <p:cNvPr id="4" name="Shape 2"/>
          <p:cNvSpPr/>
          <p:nvPr/>
        </p:nvSpPr>
        <p:spPr>
          <a:xfrm>
            <a:off x="731520" y="1051560"/>
            <a:ext cx="7680960" cy="0"/>
          </a:xfrm>
          <a:prstGeom prst="line">
            <a:avLst/>
          </a:prstGeom>
          <a:noFill/>
          <a:ln w="19050">
            <a:solidFill>
              <a:srgbClr val="E86F5A"/>
            </a:solidFill>
            <a:prstDash val="solid"/>
          </a:ln>
        </p:spPr>
      </p:sp>
      <p:sp>
        <p:nvSpPr>
          <p:cNvPr id="5" name="Text 3"/>
          <p:cNvSpPr/>
          <p:nvPr/>
        </p:nvSpPr>
        <p:spPr>
          <a:xfrm>
            <a:off x="731520" y="128016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Concept</a:t>
            </a:r>
            <a:endParaRPr lang="en-US" sz="1600" dirty="0"/>
          </a:p>
        </p:txBody>
      </p:sp>
      <p:sp>
        <p:nvSpPr>
          <p:cNvPr id="6" name="Text 4"/>
          <p:cNvSpPr/>
          <p:nvPr/>
        </p:nvSpPr>
        <p:spPr>
          <a:xfrm>
            <a:off x="731520" y="1737360"/>
            <a:ext cx="7680960" cy="822960"/>
          </a:xfrm>
          <a:prstGeom prst="rect">
            <a:avLst/>
          </a:prstGeom>
          <a:noFill/>
          <a:ln/>
        </p:spPr>
        <p:txBody>
          <a:bodyPr wrap="square" lIns="0" tIns="0" rIns="0" bIns="0" rtlCol="0" anchor="ctr"/>
          <a:lstStyle/>
          <a:p>
            <a:pPr indent="0" marL="0">
              <a:lnSpc>
                <a:spcPct val="130000"/>
              </a:lnSpc>
              <a:buNone/>
            </a:pPr>
            <a:r>
              <a:rPr lang="en-US" sz="1250" dirty="0">
                <a:solidFill>
                  <a:srgbClr val="2D2D2D"/>
                </a:solidFill>
                <a:latin typeface="Calibri" pitchFamily="34" charset="0"/>
                <a:ea typeface="Calibri" pitchFamily="34" charset="-122"/>
                <a:cs typeface="Calibri" pitchFamily="34" charset="-120"/>
              </a:rPr>
              <a:t>Kinetic Dreamer is the governing aesthetic of Terrazzo. It fuses the dynamism and geometric boldness of Italian Futurism (particularly the work of Fortunato Depero) with the warmth and organic spontaneity of mid-century poster art. The result feels like velocity with soul — forward motion tempered by handmade charm.</a:t>
            </a:r>
            <a:endParaRPr lang="en-US" sz="1250" dirty="0"/>
          </a:p>
        </p:txBody>
      </p:sp>
      <p:sp>
        <p:nvSpPr>
          <p:cNvPr id="7" name="Text 5"/>
          <p:cNvSpPr/>
          <p:nvPr/>
        </p:nvSpPr>
        <p:spPr>
          <a:xfrm>
            <a:off x="731520" y="274320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What It Is Not</a:t>
            </a:r>
            <a:endParaRPr lang="en-US" sz="1600" dirty="0"/>
          </a:p>
        </p:txBody>
      </p:sp>
      <p:sp>
        <p:nvSpPr>
          <p:cNvPr id="8" name="Text 6"/>
          <p:cNvSpPr/>
          <p:nvPr/>
        </p:nvSpPr>
        <p:spPr>
          <a:xfrm>
            <a:off x="731520" y="3200400"/>
            <a:ext cx="7680960" cy="822960"/>
          </a:xfrm>
          <a:prstGeom prst="rect">
            <a:avLst/>
          </a:prstGeom>
          <a:noFill/>
          <a:ln/>
        </p:spPr>
        <p:txBody>
          <a:bodyPr wrap="square" lIns="0" tIns="0" rIns="0" bIns="0" rtlCol="0" anchor="ctr"/>
          <a:lstStyle/>
          <a:p>
            <a:pPr indent="0" marL="0">
              <a:lnSpc>
                <a:spcPct val="130000"/>
              </a:lnSpc>
              <a:buNone/>
            </a:pPr>
            <a:r>
              <a:rPr lang="en-US" sz="1250" dirty="0">
                <a:solidFill>
                  <a:srgbClr val="2D2D2D"/>
                </a:solidFill>
                <a:latin typeface="Calibri" pitchFamily="34" charset="0"/>
                <a:ea typeface="Calibri" pitchFamily="34" charset="-122"/>
                <a:cs typeface="Calibri" pitchFamily="34" charset="-120"/>
              </a:rPr>
              <a:t>Kinetic Dreamer is not minimalist tech-aesthetic. It's not Swiss grid purity or Silicon Valley clean-line UI. It's not nostalgic retro either — it references the past but always feels contemporary. Avoid: drop shadows, glossy effects, stock photography aesthetics, generic sans-serif blandness, vintage effects, or anything that could live on a fintech landing page.</a:t>
            </a:r>
            <a:endParaRPr lang="en-US" sz="1250" dirty="0"/>
          </a:p>
        </p:txBody>
      </p:sp>
      <p:sp>
        <p:nvSpPr>
          <p:cNvPr id="9" name="Shape 7"/>
          <p:cNvSpPr/>
          <p:nvPr/>
        </p:nvSpPr>
        <p:spPr>
          <a:xfrm>
            <a:off x="6400800" y="3474720"/>
            <a:ext cx="2286000" cy="2286000"/>
          </a:xfrm>
          <a:prstGeom prst="ellipse">
            <a:avLst/>
          </a:prstGeom>
          <a:solidFill>
            <a:srgbClr val="E86F5A">
              <a:alpha val="75000"/>
            </a:srgbClr>
          </a:solidFill>
          <a:ln/>
        </p:spPr>
      </p:sp>
      <p:sp>
        <p:nvSpPr>
          <p:cNvPr id="10" name="Shape 8"/>
          <p:cNvSpPr/>
          <p:nvPr/>
        </p:nvSpPr>
        <p:spPr>
          <a:xfrm>
            <a:off x="7498080" y="3840480"/>
            <a:ext cx="1371600" cy="1371600"/>
          </a:xfrm>
          <a:prstGeom prst="ellipse">
            <a:avLst/>
          </a:prstGeom>
          <a:solidFill>
            <a:srgbClr val="E8B84B">
              <a:alpha val="65000"/>
            </a:srgbClr>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C"/>
        </a:solidFill>
      </p:bgPr>
    </p:bg>
    <p:spTree>
      <p:nvGrpSpPr>
        <p:cNvPr id="1" name=""/>
        <p:cNvGrpSpPr/>
        <p:nvPr/>
      </p:nvGrpSpPr>
      <p:grpSpPr>
        <a:xfrm>
          <a:off x="0" y="0"/>
          <a:ext cx="0" cy="0"/>
          <a:chOff x="0" y="0"/>
          <a:chExt cx="0" cy="0"/>
        </a:xfrm>
      </p:grpSpPr>
      <p:sp>
        <p:nvSpPr>
          <p:cNvPr id="2" name="Text 0"/>
          <p:cNvSpPr/>
          <p:nvPr/>
        </p:nvSpPr>
        <p:spPr>
          <a:xfrm>
            <a:off x="457200" y="4709160"/>
            <a:ext cx="3657600" cy="320040"/>
          </a:xfrm>
          <a:prstGeom prst="rect">
            <a:avLst/>
          </a:prstGeom>
          <a:noFill/>
          <a:ln/>
        </p:spPr>
        <p:txBody>
          <a:bodyPr wrap="square" lIns="0" tIns="0" rIns="0" bIns="0" rtlCol="0" anchor="ctr"/>
          <a:lstStyle/>
          <a:p>
            <a:pPr indent="0" marL="0">
              <a:buNone/>
            </a:pPr>
            <a:r>
              <a:rPr lang="en-US" sz="800" dirty="0">
                <a:solidFill>
                  <a:srgbClr val="A89888"/>
                </a:solidFill>
                <a:latin typeface="Calibri" pitchFamily="34" charset="0"/>
                <a:ea typeface="Calibri" pitchFamily="34" charset="-122"/>
                <a:cs typeface="Calibri" pitchFamily="34" charset="-120"/>
              </a:rPr>
              <a:t>CONFIDENTIAL  ·  TERRAZZO</a:t>
            </a:r>
            <a:endParaRPr lang="en-US" sz="800" dirty="0"/>
          </a:p>
        </p:txBody>
      </p:sp>
      <p:sp>
        <p:nvSpPr>
          <p:cNvPr id="3" name="Text 1"/>
          <p:cNvSpPr/>
          <p:nvPr/>
        </p:nvSpPr>
        <p:spPr>
          <a:xfrm>
            <a:off x="731520" y="365760"/>
            <a:ext cx="7315200" cy="594360"/>
          </a:xfrm>
          <a:prstGeom prst="rect">
            <a:avLst/>
          </a:prstGeom>
          <a:noFill/>
          <a:ln/>
        </p:spPr>
        <p:txBody>
          <a:bodyPr wrap="square" lIns="0" tIns="0" rIns="0" bIns="0" rtlCol="0" anchor="ctr"/>
          <a:lstStyle/>
          <a:p>
            <a:pPr indent="0" marL="0">
              <a:buNone/>
            </a:pPr>
            <a:r>
              <a:rPr lang="en-US" sz="3200" b="1" dirty="0">
                <a:solidFill>
                  <a:srgbClr val="1A2D4A"/>
                </a:solidFill>
                <a:latin typeface="Georgia" pitchFamily="34" charset="0"/>
                <a:ea typeface="Georgia" pitchFamily="34" charset="-122"/>
                <a:cs typeface="Georgia" pitchFamily="34" charset="-120"/>
              </a:rPr>
              <a:t>Visual Principles</a:t>
            </a:r>
            <a:endParaRPr lang="en-US" sz="3200" dirty="0"/>
          </a:p>
        </p:txBody>
      </p:sp>
      <p:sp>
        <p:nvSpPr>
          <p:cNvPr id="4" name="Shape 2"/>
          <p:cNvSpPr/>
          <p:nvPr/>
        </p:nvSpPr>
        <p:spPr>
          <a:xfrm>
            <a:off x="731520" y="1051560"/>
            <a:ext cx="7680960" cy="0"/>
          </a:xfrm>
          <a:prstGeom prst="line">
            <a:avLst/>
          </a:prstGeom>
          <a:noFill/>
          <a:ln w="19050">
            <a:solidFill>
              <a:srgbClr val="E86F5A"/>
            </a:solidFill>
            <a:prstDash val="solid"/>
          </a:ln>
        </p:spPr>
      </p:sp>
      <p:sp>
        <p:nvSpPr>
          <p:cNvPr id="5" name="Shape 3"/>
          <p:cNvSpPr/>
          <p:nvPr/>
        </p:nvSpPr>
        <p:spPr>
          <a:xfrm>
            <a:off x="731520" y="1371600"/>
            <a:ext cx="228600" cy="228600"/>
          </a:xfrm>
          <a:prstGeom prst="ellipse">
            <a:avLst/>
          </a:prstGeom>
          <a:solidFill>
            <a:srgbClr val="E86F5A"/>
          </a:solidFill>
          <a:ln/>
        </p:spPr>
      </p:sp>
      <p:sp>
        <p:nvSpPr>
          <p:cNvPr id="6" name="Text 4"/>
          <p:cNvSpPr/>
          <p:nvPr/>
        </p:nvSpPr>
        <p:spPr>
          <a:xfrm>
            <a:off x="1097280" y="1325880"/>
            <a:ext cx="3657600" cy="274320"/>
          </a:xfrm>
          <a:prstGeom prst="rect">
            <a:avLst/>
          </a:prstGeom>
          <a:noFill/>
          <a:ln/>
        </p:spPr>
        <p:txBody>
          <a:bodyPr wrap="square" lIns="0" tIns="0" rIns="0" bIns="0" rtlCol="0" anchor="ctr"/>
          <a:lstStyle/>
          <a:p>
            <a:pPr indent="0" marL="0">
              <a:buNone/>
            </a:pPr>
            <a:r>
              <a:rPr lang="en-US" sz="1300" b="1" dirty="0">
                <a:solidFill>
                  <a:srgbClr val="1A2D4A"/>
                </a:solidFill>
                <a:latin typeface="Calibri" pitchFamily="34" charset="0"/>
                <a:ea typeface="Calibri" pitchFamily="34" charset="-122"/>
                <a:cs typeface="Calibri" pitchFamily="34" charset="-120"/>
              </a:rPr>
              <a:t>Bold geometric abstraction</a:t>
            </a:r>
            <a:endParaRPr lang="en-US" sz="1300" dirty="0"/>
          </a:p>
        </p:txBody>
      </p:sp>
      <p:sp>
        <p:nvSpPr>
          <p:cNvPr id="7" name="Text 5"/>
          <p:cNvSpPr/>
          <p:nvPr/>
        </p:nvSpPr>
        <p:spPr>
          <a:xfrm>
            <a:off x="1097280" y="1600200"/>
            <a:ext cx="7315200" cy="457200"/>
          </a:xfrm>
          <a:prstGeom prst="rect">
            <a:avLst/>
          </a:prstGeom>
          <a:noFill/>
          <a:ln/>
        </p:spPr>
        <p:txBody>
          <a:bodyPr wrap="square" lIns="0" tIns="0" rIns="0" bIns="0" rtlCol="0" anchor="ctr"/>
          <a:lstStyle/>
          <a:p>
            <a:pPr indent="0" marL="0">
              <a:lnSpc>
                <a:spcPct val="120000"/>
              </a:lnSpc>
              <a:buNone/>
            </a:pPr>
            <a:r>
              <a:rPr lang="en-US" sz="1150" dirty="0">
                <a:solidFill>
                  <a:srgbClr val="2D2D2D"/>
                </a:solidFill>
                <a:latin typeface="Calibri" pitchFamily="34" charset="0"/>
                <a:ea typeface="Calibri" pitchFamily="34" charset="-122"/>
                <a:cs typeface="Calibri" pitchFamily="34" charset="-120"/>
              </a:rPr>
              <a:t>Large, confident shapes that command space. Color fields meet at angular or gently curved edges, creating compositions that feel architectural.</a:t>
            </a:r>
            <a:endParaRPr lang="en-US" sz="1150" dirty="0"/>
          </a:p>
        </p:txBody>
      </p:sp>
      <p:sp>
        <p:nvSpPr>
          <p:cNvPr id="8" name="Shape 6"/>
          <p:cNvSpPr/>
          <p:nvPr/>
        </p:nvSpPr>
        <p:spPr>
          <a:xfrm>
            <a:off x="731520" y="2240280"/>
            <a:ext cx="228600" cy="228600"/>
          </a:xfrm>
          <a:prstGeom prst="ellipse">
            <a:avLst/>
          </a:prstGeom>
          <a:solidFill>
            <a:srgbClr val="5EC4B2"/>
          </a:solidFill>
          <a:ln/>
        </p:spPr>
      </p:sp>
      <p:sp>
        <p:nvSpPr>
          <p:cNvPr id="9" name="Text 7"/>
          <p:cNvSpPr/>
          <p:nvPr/>
        </p:nvSpPr>
        <p:spPr>
          <a:xfrm>
            <a:off x="1097280" y="2194560"/>
            <a:ext cx="3657600" cy="274320"/>
          </a:xfrm>
          <a:prstGeom prst="rect">
            <a:avLst/>
          </a:prstGeom>
          <a:noFill/>
          <a:ln/>
        </p:spPr>
        <p:txBody>
          <a:bodyPr wrap="square" lIns="0" tIns="0" rIns="0" bIns="0" rtlCol="0" anchor="ctr"/>
          <a:lstStyle/>
          <a:p>
            <a:pPr indent="0" marL="0">
              <a:buNone/>
            </a:pPr>
            <a:r>
              <a:rPr lang="en-US" sz="1300" b="1" dirty="0">
                <a:solidFill>
                  <a:srgbClr val="1A2D4A"/>
                </a:solidFill>
                <a:latin typeface="Calibri" pitchFamily="34" charset="0"/>
                <a:ea typeface="Calibri" pitchFamily="34" charset="-122"/>
                <a:cs typeface="Calibri" pitchFamily="34" charset="-120"/>
              </a:rPr>
              <a:t>Dynamic tension</a:t>
            </a:r>
            <a:endParaRPr lang="en-US" sz="1300" dirty="0"/>
          </a:p>
        </p:txBody>
      </p:sp>
      <p:sp>
        <p:nvSpPr>
          <p:cNvPr id="10" name="Text 8"/>
          <p:cNvSpPr/>
          <p:nvPr/>
        </p:nvSpPr>
        <p:spPr>
          <a:xfrm>
            <a:off x="1097280" y="2468880"/>
            <a:ext cx="7315200" cy="457200"/>
          </a:xfrm>
          <a:prstGeom prst="rect">
            <a:avLst/>
          </a:prstGeom>
          <a:noFill/>
          <a:ln/>
        </p:spPr>
        <p:txBody>
          <a:bodyPr wrap="square" lIns="0" tIns="0" rIns="0" bIns="0" rtlCol="0" anchor="ctr"/>
          <a:lstStyle/>
          <a:p>
            <a:pPr indent="0" marL="0">
              <a:lnSpc>
                <a:spcPct val="120000"/>
              </a:lnSpc>
              <a:buNone/>
            </a:pPr>
            <a:r>
              <a:rPr lang="en-US" sz="1150" dirty="0">
                <a:solidFill>
                  <a:srgbClr val="2D2D2D"/>
                </a:solidFill>
                <a:latin typeface="Calibri" pitchFamily="34" charset="0"/>
                <a:ea typeface="Calibri" pitchFamily="34" charset="-122"/>
                <a:cs typeface="Calibri" pitchFamily="34" charset="-120"/>
              </a:rPr>
              <a:t>Tilted planes, overlapping forms, and asymmetric layouts that imply movement and energy. Nothing sits passively.</a:t>
            </a:r>
            <a:endParaRPr lang="en-US" sz="1150" dirty="0"/>
          </a:p>
        </p:txBody>
      </p:sp>
      <p:sp>
        <p:nvSpPr>
          <p:cNvPr id="11" name="Shape 9"/>
          <p:cNvSpPr/>
          <p:nvPr/>
        </p:nvSpPr>
        <p:spPr>
          <a:xfrm>
            <a:off x="731520" y="3108960"/>
            <a:ext cx="228600" cy="228600"/>
          </a:xfrm>
          <a:prstGeom prst="ellipse">
            <a:avLst/>
          </a:prstGeom>
          <a:solidFill>
            <a:srgbClr val="E8B84B"/>
          </a:solidFill>
          <a:ln/>
        </p:spPr>
      </p:sp>
      <p:sp>
        <p:nvSpPr>
          <p:cNvPr id="12" name="Text 10"/>
          <p:cNvSpPr/>
          <p:nvPr/>
        </p:nvSpPr>
        <p:spPr>
          <a:xfrm>
            <a:off x="1097280" y="3063240"/>
            <a:ext cx="3657600" cy="274320"/>
          </a:xfrm>
          <a:prstGeom prst="rect">
            <a:avLst/>
          </a:prstGeom>
          <a:noFill/>
          <a:ln/>
        </p:spPr>
        <p:txBody>
          <a:bodyPr wrap="square" lIns="0" tIns="0" rIns="0" bIns="0" rtlCol="0" anchor="ctr"/>
          <a:lstStyle/>
          <a:p>
            <a:pPr indent="0" marL="0">
              <a:buNone/>
            </a:pPr>
            <a:r>
              <a:rPr lang="en-US" sz="1300" b="1" dirty="0">
                <a:solidFill>
                  <a:srgbClr val="1A2D4A"/>
                </a:solidFill>
                <a:latin typeface="Calibri" pitchFamily="34" charset="0"/>
                <a:ea typeface="Calibri" pitchFamily="34" charset="-122"/>
                <a:cs typeface="Calibri" pitchFamily="34" charset="-120"/>
              </a:rPr>
              <a:t>Organic cutouts</a:t>
            </a:r>
            <a:endParaRPr lang="en-US" sz="1300" dirty="0"/>
          </a:p>
        </p:txBody>
      </p:sp>
      <p:sp>
        <p:nvSpPr>
          <p:cNvPr id="13" name="Text 11"/>
          <p:cNvSpPr/>
          <p:nvPr/>
        </p:nvSpPr>
        <p:spPr>
          <a:xfrm>
            <a:off x="1097280" y="3337560"/>
            <a:ext cx="7315200" cy="457200"/>
          </a:xfrm>
          <a:prstGeom prst="rect">
            <a:avLst/>
          </a:prstGeom>
          <a:noFill/>
          <a:ln/>
        </p:spPr>
        <p:txBody>
          <a:bodyPr wrap="square" lIns="0" tIns="0" rIns="0" bIns="0" rtlCol="0" anchor="ctr"/>
          <a:lstStyle/>
          <a:p>
            <a:pPr indent="0" marL="0">
              <a:lnSpc>
                <a:spcPct val="120000"/>
              </a:lnSpc>
              <a:buNone/>
            </a:pPr>
            <a:r>
              <a:rPr lang="en-US" sz="1150" dirty="0">
                <a:solidFill>
                  <a:srgbClr val="2D2D2D"/>
                </a:solidFill>
                <a:latin typeface="Calibri" pitchFamily="34" charset="0"/>
                <a:ea typeface="Calibri" pitchFamily="34" charset="-122"/>
                <a:cs typeface="Calibri" pitchFamily="34" charset="-120"/>
              </a:rPr>
              <a:t>Alongside hard geometry, softer biomorphic shapes appear as accent forms — inspired by Depero's playful collage work and Matisse's late paper cutouts.</a:t>
            </a:r>
            <a:endParaRPr lang="en-US" sz="1150" dirty="0"/>
          </a:p>
        </p:txBody>
      </p:sp>
      <p:sp>
        <p:nvSpPr>
          <p:cNvPr id="14" name="Shape 12"/>
          <p:cNvSpPr/>
          <p:nvPr/>
        </p:nvSpPr>
        <p:spPr>
          <a:xfrm>
            <a:off x="731520" y="3977640"/>
            <a:ext cx="228600" cy="228600"/>
          </a:xfrm>
          <a:prstGeom prst="ellipse">
            <a:avLst/>
          </a:prstGeom>
          <a:solidFill>
            <a:srgbClr val="6B7C4E"/>
          </a:solidFill>
          <a:ln/>
        </p:spPr>
      </p:sp>
      <p:sp>
        <p:nvSpPr>
          <p:cNvPr id="15" name="Text 13"/>
          <p:cNvSpPr/>
          <p:nvPr/>
        </p:nvSpPr>
        <p:spPr>
          <a:xfrm>
            <a:off x="1097280" y="3931920"/>
            <a:ext cx="3657600" cy="274320"/>
          </a:xfrm>
          <a:prstGeom prst="rect">
            <a:avLst/>
          </a:prstGeom>
          <a:noFill/>
          <a:ln/>
        </p:spPr>
        <p:txBody>
          <a:bodyPr wrap="square" lIns="0" tIns="0" rIns="0" bIns="0" rtlCol="0" anchor="ctr"/>
          <a:lstStyle/>
          <a:p>
            <a:pPr indent="0" marL="0">
              <a:buNone/>
            </a:pPr>
            <a:r>
              <a:rPr lang="en-US" sz="1300" b="1" dirty="0">
                <a:solidFill>
                  <a:srgbClr val="1A2D4A"/>
                </a:solidFill>
                <a:latin typeface="Calibri" pitchFamily="34" charset="0"/>
                <a:ea typeface="Calibri" pitchFamily="34" charset="-122"/>
                <a:cs typeface="Calibri" pitchFamily="34" charset="-120"/>
              </a:rPr>
              <a:t>Textural warmth</a:t>
            </a:r>
            <a:endParaRPr lang="en-US" sz="1300" dirty="0"/>
          </a:p>
        </p:txBody>
      </p:sp>
      <p:sp>
        <p:nvSpPr>
          <p:cNvPr id="16" name="Text 14"/>
          <p:cNvSpPr/>
          <p:nvPr/>
        </p:nvSpPr>
        <p:spPr>
          <a:xfrm>
            <a:off x="1097280" y="4206240"/>
            <a:ext cx="7315200" cy="457200"/>
          </a:xfrm>
          <a:prstGeom prst="rect">
            <a:avLst/>
          </a:prstGeom>
          <a:noFill/>
          <a:ln/>
        </p:spPr>
        <p:txBody>
          <a:bodyPr wrap="square" lIns="0" tIns="0" rIns="0" bIns="0" rtlCol="0" anchor="ctr"/>
          <a:lstStyle/>
          <a:p>
            <a:pPr indent="0" marL="0">
              <a:lnSpc>
                <a:spcPct val="120000"/>
              </a:lnSpc>
              <a:buNone/>
            </a:pPr>
            <a:r>
              <a:rPr lang="en-US" sz="1150" dirty="0">
                <a:solidFill>
                  <a:srgbClr val="2D2D2D"/>
                </a:solidFill>
                <a:latin typeface="Calibri" pitchFamily="34" charset="0"/>
                <a:ea typeface="Calibri" pitchFamily="34" charset="-122"/>
                <a:cs typeface="Calibri" pitchFamily="34" charset="-120"/>
              </a:rPr>
              <a:t>Subtle grain, paper texture, or linen-like overlays that prevent the palette from feeling too digital or sterile.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5EC"/>
        </a:solidFill>
      </p:bgPr>
    </p:bg>
    <p:spTree>
      <p:nvGrpSpPr>
        <p:cNvPr id="1" name=""/>
        <p:cNvGrpSpPr/>
        <p:nvPr/>
      </p:nvGrpSpPr>
      <p:grpSpPr>
        <a:xfrm>
          <a:off x="0" y="0"/>
          <a:ext cx="0" cy="0"/>
          <a:chOff x="0" y="0"/>
          <a:chExt cx="0" cy="0"/>
        </a:xfrm>
      </p:grpSpPr>
      <p:sp>
        <p:nvSpPr>
          <p:cNvPr id="2" name="Text 0"/>
          <p:cNvSpPr/>
          <p:nvPr/>
        </p:nvSpPr>
        <p:spPr>
          <a:xfrm>
            <a:off x="457200" y="4709160"/>
            <a:ext cx="3657600" cy="320040"/>
          </a:xfrm>
          <a:prstGeom prst="rect">
            <a:avLst/>
          </a:prstGeom>
          <a:noFill/>
          <a:ln/>
        </p:spPr>
        <p:txBody>
          <a:bodyPr wrap="square" lIns="0" tIns="0" rIns="0" bIns="0" rtlCol="0" anchor="ctr"/>
          <a:lstStyle/>
          <a:p>
            <a:pPr indent="0" marL="0">
              <a:buNone/>
            </a:pPr>
            <a:r>
              <a:rPr lang="en-US" sz="800" dirty="0">
                <a:solidFill>
                  <a:srgbClr val="A89888"/>
                </a:solidFill>
                <a:latin typeface="Calibri" pitchFamily="34" charset="0"/>
                <a:ea typeface="Calibri" pitchFamily="34" charset="-122"/>
                <a:cs typeface="Calibri" pitchFamily="34" charset="-120"/>
              </a:rPr>
              <a:t>CONFIDENTIAL  ·  TERRAZZO</a:t>
            </a:r>
            <a:endParaRPr lang="en-US" sz="800" dirty="0"/>
          </a:p>
        </p:txBody>
      </p:sp>
      <p:sp>
        <p:nvSpPr>
          <p:cNvPr id="3" name="Text 1"/>
          <p:cNvSpPr/>
          <p:nvPr/>
        </p:nvSpPr>
        <p:spPr>
          <a:xfrm>
            <a:off x="731520" y="365760"/>
            <a:ext cx="7315200" cy="594360"/>
          </a:xfrm>
          <a:prstGeom prst="rect">
            <a:avLst/>
          </a:prstGeom>
          <a:noFill/>
          <a:ln/>
        </p:spPr>
        <p:txBody>
          <a:bodyPr wrap="square" lIns="0" tIns="0" rIns="0" bIns="0" rtlCol="0" anchor="ctr"/>
          <a:lstStyle/>
          <a:p>
            <a:pPr indent="0" marL="0">
              <a:buNone/>
            </a:pPr>
            <a:r>
              <a:rPr lang="en-US" sz="3200" b="1" dirty="0">
                <a:solidFill>
                  <a:srgbClr val="1A2D4A"/>
                </a:solidFill>
                <a:latin typeface="Georgia" pitchFamily="34" charset="0"/>
                <a:ea typeface="Georgia" pitchFamily="34" charset="-122"/>
                <a:cs typeface="Georgia" pitchFamily="34" charset="-120"/>
              </a:rPr>
              <a:t>Brand Personality</a:t>
            </a:r>
            <a:endParaRPr lang="en-US" sz="3200" dirty="0"/>
          </a:p>
        </p:txBody>
      </p:sp>
      <p:sp>
        <p:nvSpPr>
          <p:cNvPr id="4" name="Shape 2"/>
          <p:cNvSpPr/>
          <p:nvPr/>
        </p:nvSpPr>
        <p:spPr>
          <a:xfrm>
            <a:off x="731520" y="1051560"/>
            <a:ext cx="7680960" cy="0"/>
          </a:xfrm>
          <a:prstGeom prst="line">
            <a:avLst/>
          </a:prstGeom>
          <a:noFill/>
          <a:ln w="19050">
            <a:solidFill>
              <a:srgbClr val="E86F5A"/>
            </a:solidFill>
            <a:prstDash val="solid"/>
          </a:ln>
        </p:spPr>
      </p:sp>
      <p:sp>
        <p:nvSpPr>
          <p:cNvPr id="5" name="Text 3"/>
          <p:cNvSpPr/>
          <p:nvPr/>
        </p:nvSpPr>
        <p:spPr>
          <a:xfrm>
            <a:off x="731520" y="128016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If Terrazzo Were a Person</a:t>
            </a:r>
            <a:endParaRPr lang="en-US" sz="1600" dirty="0"/>
          </a:p>
        </p:txBody>
      </p:sp>
      <p:sp>
        <p:nvSpPr>
          <p:cNvPr id="6" name="Text 4"/>
          <p:cNvSpPr/>
          <p:nvPr/>
        </p:nvSpPr>
        <p:spPr>
          <a:xfrm>
            <a:off x="731520" y="1737360"/>
            <a:ext cx="7680960" cy="640080"/>
          </a:xfrm>
          <a:prstGeom prst="rect">
            <a:avLst/>
          </a:prstGeom>
          <a:noFill/>
          <a:ln/>
        </p:spPr>
        <p:txBody>
          <a:bodyPr wrap="square" lIns="0" tIns="0" rIns="0" bIns="0" rtlCol="0" anchor="ctr"/>
          <a:lstStyle/>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Terrazzo is the friend who texts you a photo of a ceramic workshop in Puglia and says "you have to come here." They're well-traveled but never pretentious, curious but decisive, spontaneous but thoughtful. They know the good coffee in every city.</a:t>
            </a:r>
            <a:endParaRPr lang="en-US" sz="1200" dirty="0"/>
          </a:p>
        </p:txBody>
      </p:sp>
      <p:sp>
        <p:nvSpPr>
          <p:cNvPr id="7" name="Text 5"/>
          <p:cNvSpPr/>
          <p:nvPr/>
        </p:nvSpPr>
        <p:spPr>
          <a:xfrm>
            <a:off x="731520" y="256032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Personality Traits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3017520"/>
          <a:ext cx="7680960" cy="914400"/>
        </p:xfrm>
        <a:graphic>
          <a:graphicData uri="http://schemas.openxmlformats.org/drawingml/2006/table">
            <a:tbl>
              <a:tblPr/>
              <a:tblGrid>
                <a:gridCol w="1828800"/>
                <a:gridCol w="5852160"/>
              </a:tblGrid>
              <a:tr h="347472">
                <a:tc>
                  <a:txBody>
                    <a:bodyPr/>
                    <a:lstStyle/>
                    <a:p>
                      <a:pPr indent="0" marL="0">
                        <a:buNone/>
                      </a:pPr>
                      <a:r>
                        <a:rPr lang="en-US" sz="1150" b="1" dirty="0">
                          <a:solidFill>
                            <a:srgbClr val="1A2D4A"/>
                          </a:solidFill>
                          <a:latin typeface="Calibri" pitchFamily="34" charset="0"/>
                          <a:ea typeface="Calibri" pitchFamily="34" charset="-122"/>
                          <a:cs typeface="Calibri" pitchFamily="34" charset="-120"/>
                        </a:rPr>
                        <a:t>Adventurous</a:t>
                      </a:r>
                      <a:endParaRPr lang="en-US" sz="1150" dirty="0">
                        <a:latin typeface="Calibri" charset="0"/>
                        <a:ea typeface="Calibri" charset="0"/>
                        <a:cs typeface="Calibri" charset="0"/>
                      </a:endParaRPr>
                    </a:p>
                  </a:txBody>
                  <a:tcPr marL="91440" marR="91440" marT="45720" marB="45720">
                    <a:lnL w="6350" cap="flat" cmpd="sng" algn="ctr">
                      <a:solidFill>
                        <a:srgbClr val="A89888"/>
                      </a:solidFill>
                      <a:prstDash val="solid"/>
                      <a:round/>
                      <a:headEnd type="none" w="med" len="med"/>
                      <a:tailEnd type="none" w="med" len="med"/>
                    </a:lnL>
                    <a:lnR w="6350" cap="flat" cmpd="sng" algn="ctr">
                      <a:solidFill>
                        <a:srgbClr val="A89888"/>
                      </a:solidFill>
                      <a:prstDash val="solid"/>
                      <a:round/>
                      <a:headEnd type="none" w="med" len="med"/>
                      <a:tailEnd type="none" w="med" len="med"/>
                    </a:lnR>
                    <a:lnT w="6350" cap="flat" cmpd="sng" algn="ctr">
                      <a:solidFill>
                        <a:srgbClr val="A89888"/>
                      </a:solidFill>
                      <a:prstDash val="solid"/>
                      <a:round/>
                      <a:headEnd type="none" w="med" len="med"/>
                      <a:tailEnd type="none" w="med" len="med"/>
                    </a:lnT>
                    <a:lnB w="6350" cap="flat" cmpd="sng" algn="ctr">
                      <a:solidFill>
                        <a:srgbClr val="A89888"/>
                      </a:solidFill>
                      <a:prstDash val="solid"/>
                      <a:round/>
                      <a:headEnd type="none" w="med" len="med"/>
                      <a:tailEnd type="none" w="med" len="med"/>
                    </a:lnB>
                  </a:tcPr>
                </a:tc>
                <a:tc>
                  <a:txBody>
                    <a:bodyPr/>
                    <a:lstStyle/>
                    <a:p>
                      <a:pPr indent="0" marL="0">
                        <a:buNone/>
                      </a:pPr>
                      <a:r>
                        <a:rPr lang="en-US" sz="1150" dirty="0">
                          <a:solidFill>
                            <a:srgbClr val="2D2D2D"/>
                          </a:solidFill>
                          <a:latin typeface="Calibri" pitchFamily="34" charset="0"/>
                          <a:ea typeface="Calibri" pitchFamily="34" charset="-122"/>
                          <a:cs typeface="Calibri" pitchFamily="34" charset="-120"/>
                        </a:rPr>
                        <a:t>We lean into the unexpected. Discovery is the product.</a:t>
                      </a:r>
                      <a:endParaRPr lang="en-US" sz="1150" dirty="0">
                        <a:latin typeface="Calibri" charset="0"/>
                        <a:ea typeface="Calibri" charset="0"/>
                        <a:cs typeface="Calibri" charset="0"/>
                      </a:endParaRPr>
                    </a:p>
                  </a:txBody>
                  <a:tcPr marL="91440" marR="91440" marT="45720" marB="45720">
                    <a:lnL w="6350" cap="flat" cmpd="sng" algn="ctr">
                      <a:solidFill>
                        <a:srgbClr val="A89888"/>
                      </a:solidFill>
                      <a:prstDash val="solid"/>
                      <a:round/>
                      <a:headEnd type="none" w="med" len="med"/>
                      <a:tailEnd type="none" w="med" len="med"/>
                    </a:lnL>
                    <a:lnR w="6350" cap="flat" cmpd="sng" algn="ctr">
                      <a:solidFill>
                        <a:srgbClr val="A89888"/>
                      </a:solidFill>
                      <a:prstDash val="solid"/>
                      <a:round/>
                      <a:headEnd type="none" w="med" len="med"/>
                      <a:tailEnd type="none" w="med" len="med"/>
                    </a:lnR>
                    <a:lnT w="6350" cap="flat" cmpd="sng" algn="ctr">
                      <a:solidFill>
                        <a:srgbClr val="A89888"/>
                      </a:solidFill>
                      <a:prstDash val="solid"/>
                      <a:round/>
                      <a:headEnd type="none" w="med" len="med"/>
                      <a:tailEnd type="none" w="med" len="med"/>
                    </a:lnT>
                    <a:lnB w="6350" cap="flat" cmpd="sng" algn="ctr">
                      <a:solidFill>
                        <a:srgbClr val="A89888"/>
                      </a:solidFill>
                      <a:prstDash val="solid"/>
                      <a:round/>
                      <a:headEnd type="none" w="med" len="med"/>
                      <a:tailEnd type="none" w="med" len="med"/>
                    </a:lnB>
                  </a:tcPr>
                </a:tc>
              </a:tr>
              <a:tr h="347472">
                <a:tc>
                  <a:txBody>
                    <a:bodyPr/>
                    <a:lstStyle/>
                    <a:p>
                      <a:pPr indent="0" marL="0">
                        <a:buNone/>
                      </a:pPr>
                      <a:r>
                        <a:rPr lang="en-US" sz="1150" b="1" dirty="0">
                          <a:solidFill>
                            <a:srgbClr val="1A2D4A"/>
                          </a:solidFill>
                          <a:latin typeface="Calibri" pitchFamily="34" charset="0"/>
                          <a:ea typeface="Calibri" pitchFamily="34" charset="-122"/>
                          <a:cs typeface="Calibri" pitchFamily="34" charset="-120"/>
                        </a:rPr>
                        <a:t>Cultivated</a:t>
                      </a:r>
                      <a:endParaRPr lang="en-US" sz="1150" dirty="0">
                        <a:latin typeface="Calibri" charset="0"/>
                        <a:ea typeface="Calibri" charset="0"/>
                        <a:cs typeface="Calibri" charset="0"/>
                      </a:endParaRPr>
                    </a:p>
                  </a:txBody>
                  <a:tcPr marL="91440" marR="91440" marT="45720" marB="45720">
                    <a:lnL w="6350" cap="flat" cmpd="sng" algn="ctr">
                      <a:solidFill>
                        <a:srgbClr val="A89888"/>
                      </a:solidFill>
                      <a:prstDash val="solid"/>
                      <a:round/>
                      <a:headEnd type="none" w="med" len="med"/>
                      <a:tailEnd type="none" w="med" len="med"/>
                    </a:lnL>
                    <a:lnR w="6350" cap="flat" cmpd="sng" algn="ctr">
                      <a:solidFill>
                        <a:srgbClr val="A89888"/>
                      </a:solidFill>
                      <a:prstDash val="solid"/>
                      <a:round/>
                      <a:headEnd type="none" w="med" len="med"/>
                      <a:tailEnd type="none" w="med" len="med"/>
                    </a:lnR>
                    <a:lnT w="6350" cap="flat" cmpd="sng" algn="ctr">
                      <a:solidFill>
                        <a:srgbClr val="A89888"/>
                      </a:solidFill>
                      <a:prstDash val="solid"/>
                      <a:round/>
                      <a:headEnd type="none" w="med" len="med"/>
                      <a:tailEnd type="none" w="med" len="med"/>
                    </a:lnT>
                    <a:lnB w="6350" cap="flat" cmpd="sng" algn="ctr">
                      <a:solidFill>
                        <a:srgbClr val="A89888"/>
                      </a:solidFill>
                      <a:prstDash val="solid"/>
                      <a:round/>
                      <a:headEnd type="none" w="med" len="med"/>
                      <a:tailEnd type="none" w="med" len="med"/>
                    </a:lnB>
                  </a:tcPr>
                </a:tc>
                <a:tc>
                  <a:txBody>
                    <a:bodyPr/>
                    <a:lstStyle/>
                    <a:p>
                      <a:pPr indent="0" marL="0">
                        <a:buNone/>
                      </a:pPr>
                      <a:r>
                        <a:rPr lang="en-US" sz="1150" dirty="0">
                          <a:solidFill>
                            <a:srgbClr val="2D2D2D"/>
                          </a:solidFill>
                          <a:latin typeface="Calibri" pitchFamily="34" charset="0"/>
                          <a:ea typeface="Calibri" pitchFamily="34" charset="-122"/>
                          <a:cs typeface="Calibri" pitchFamily="34" charset="-120"/>
                        </a:rPr>
                        <a:t>We have taste without being gatekeepers. We elevate without excluding.</a:t>
                      </a:r>
                      <a:endParaRPr lang="en-US" sz="1150" dirty="0">
                        <a:latin typeface="Calibri" charset="0"/>
                        <a:ea typeface="Calibri" charset="0"/>
                        <a:cs typeface="Calibri" charset="0"/>
                      </a:endParaRPr>
                    </a:p>
                  </a:txBody>
                  <a:tcPr marL="91440" marR="91440" marT="45720" marB="45720">
                    <a:lnL w="6350" cap="flat" cmpd="sng" algn="ctr">
                      <a:solidFill>
                        <a:srgbClr val="A89888"/>
                      </a:solidFill>
                      <a:prstDash val="solid"/>
                      <a:round/>
                      <a:headEnd type="none" w="med" len="med"/>
                      <a:tailEnd type="none" w="med" len="med"/>
                    </a:lnL>
                    <a:lnR w="6350" cap="flat" cmpd="sng" algn="ctr">
                      <a:solidFill>
                        <a:srgbClr val="A89888"/>
                      </a:solidFill>
                      <a:prstDash val="solid"/>
                      <a:round/>
                      <a:headEnd type="none" w="med" len="med"/>
                      <a:tailEnd type="none" w="med" len="med"/>
                    </a:lnR>
                    <a:lnT w="6350" cap="flat" cmpd="sng" algn="ctr">
                      <a:solidFill>
                        <a:srgbClr val="A89888"/>
                      </a:solidFill>
                      <a:prstDash val="solid"/>
                      <a:round/>
                      <a:headEnd type="none" w="med" len="med"/>
                      <a:tailEnd type="none" w="med" len="med"/>
                    </a:lnT>
                    <a:lnB w="6350" cap="flat" cmpd="sng" algn="ctr">
                      <a:solidFill>
                        <a:srgbClr val="A89888"/>
                      </a:solidFill>
                      <a:prstDash val="solid"/>
                      <a:round/>
                      <a:headEnd type="none" w="med" len="med"/>
                      <a:tailEnd type="none" w="med" len="med"/>
                    </a:lnB>
                  </a:tcPr>
                </a:tc>
              </a:tr>
              <a:tr h="347472">
                <a:tc>
                  <a:txBody>
                    <a:bodyPr/>
                    <a:lstStyle/>
                    <a:p>
                      <a:pPr indent="0" marL="0">
                        <a:buNone/>
                      </a:pPr>
                      <a:r>
                        <a:rPr lang="en-US" sz="1150" b="1" dirty="0">
                          <a:solidFill>
                            <a:srgbClr val="1A2D4A"/>
                          </a:solidFill>
                          <a:latin typeface="Calibri" pitchFamily="34" charset="0"/>
                          <a:ea typeface="Calibri" pitchFamily="34" charset="-122"/>
                          <a:cs typeface="Calibri" pitchFamily="34" charset="-120"/>
                        </a:rPr>
                        <a:t>Energetic</a:t>
                      </a:r>
                      <a:endParaRPr lang="en-US" sz="1150" dirty="0">
                        <a:latin typeface="Calibri" charset="0"/>
                        <a:ea typeface="Calibri" charset="0"/>
                        <a:cs typeface="Calibri" charset="0"/>
                      </a:endParaRPr>
                    </a:p>
                  </a:txBody>
                  <a:tcPr marL="91440" marR="91440" marT="45720" marB="45720">
                    <a:lnL w="6350" cap="flat" cmpd="sng" algn="ctr">
                      <a:solidFill>
                        <a:srgbClr val="A89888"/>
                      </a:solidFill>
                      <a:prstDash val="solid"/>
                      <a:round/>
                      <a:headEnd type="none" w="med" len="med"/>
                      <a:tailEnd type="none" w="med" len="med"/>
                    </a:lnL>
                    <a:lnR w="6350" cap="flat" cmpd="sng" algn="ctr">
                      <a:solidFill>
                        <a:srgbClr val="A89888"/>
                      </a:solidFill>
                      <a:prstDash val="solid"/>
                      <a:round/>
                      <a:headEnd type="none" w="med" len="med"/>
                      <a:tailEnd type="none" w="med" len="med"/>
                    </a:lnR>
                    <a:lnT w="6350" cap="flat" cmpd="sng" algn="ctr">
                      <a:solidFill>
                        <a:srgbClr val="A89888"/>
                      </a:solidFill>
                      <a:prstDash val="solid"/>
                      <a:round/>
                      <a:headEnd type="none" w="med" len="med"/>
                      <a:tailEnd type="none" w="med" len="med"/>
                    </a:lnT>
                    <a:lnB w="6350" cap="flat" cmpd="sng" algn="ctr">
                      <a:solidFill>
                        <a:srgbClr val="A89888"/>
                      </a:solidFill>
                      <a:prstDash val="solid"/>
                      <a:round/>
                      <a:headEnd type="none" w="med" len="med"/>
                      <a:tailEnd type="none" w="med" len="med"/>
                    </a:lnB>
                  </a:tcPr>
                </a:tc>
                <a:tc>
                  <a:txBody>
                    <a:bodyPr/>
                    <a:lstStyle/>
                    <a:p>
                      <a:pPr indent="0" marL="0">
                        <a:buNone/>
                      </a:pPr>
                      <a:r>
                        <a:rPr lang="en-US" sz="1150" dirty="0">
                          <a:solidFill>
                            <a:srgbClr val="2D2D2D"/>
                          </a:solidFill>
                          <a:latin typeface="Calibri" pitchFamily="34" charset="0"/>
                          <a:ea typeface="Calibri" pitchFamily="34" charset="-122"/>
                          <a:cs typeface="Calibri" pitchFamily="34" charset="-120"/>
                        </a:rPr>
                        <a:t>There's a restless momentum to everything we do. Static is boring.</a:t>
                      </a:r>
                      <a:endParaRPr lang="en-US" sz="1150" dirty="0">
                        <a:latin typeface="Calibri" charset="0"/>
                        <a:ea typeface="Calibri" charset="0"/>
                        <a:cs typeface="Calibri" charset="0"/>
                      </a:endParaRPr>
                    </a:p>
                  </a:txBody>
                  <a:tcPr marL="91440" marR="91440" marT="45720" marB="45720">
                    <a:lnL w="6350" cap="flat" cmpd="sng" algn="ctr">
                      <a:solidFill>
                        <a:srgbClr val="A89888"/>
                      </a:solidFill>
                      <a:prstDash val="solid"/>
                      <a:round/>
                      <a:headEnd type="none" w="med" len="med"/>
                      <a:tailEnd type="none" w="med" len="med"/>
                    </a:lnL>
                    <a:lnR w="6350" cap="flat" cmpd="sng" algn="ctr">
                      <a:solidFill>
                        <a:srgbClr val="A89888"/>
                      </a:solidFill>
                      <a:prstDash val="solid"/>
                      <a:round/>
                      <a:headEnd type="none" w="med" len="med"/>
                      <a:tailEnd type="none" w="med" len="med"/>
                    </a:lnR>
                    <a:lnT w="6350" cap="flat" cmpd="sng" algn="ctr">
                      <a:solidFill>
                        <a:srgbClr val="A89888"/>
                      </a:solidFill>
                      <a:prstDash val="solid"/>
                      <a:round/>
                      <a:headEnd type="none" w="med" len="med"/>
                      <a:tailEnd type="none" w="med" len="med"/>
                    </a:lnT>
                    <a:lnB w="6350" cap="flat" cmpd="sng" algn="ctr">
                      <a:solidFill>
                        <a:srgbClr val="A89888"/>
                      </a:solidFill>
                      <a:prstDash val="solid"/>
                      <a:round/>
                      <a:headEnd type="none" w="med" len="med"/>
                      <a:tailEnd type="none" w="med" len="med"/>
                    </a:lnB>
                  </a:tcPr>
                </a:tc>
              </a:tr>
              <a:tr h="347472">
                <a:tc>
                  <a:txBody>
                    <a:bodyPr/>
                    <a:lstStyle/>
                    <a:p>
                      <a:pPr indent="0" marL="0">
                        <a:buNone/>
                      </a:pPr>
                      <a:r>
                        <a:rPr lang="en-US" sz="1150" b="1" dirty="0">
                          <a:solidFill>
                            <a:srgbClr val="1A2D4A"/>
                          </a:solidFill>
                          <a:latin typeface="Calibri" pitchFamily="34" charset="0"/>
                          <a:ea typeface="Calibri" pitchFamily="34" charset="-122"/>
                          <a:cs typeface="Calibri" pitchFamily="34" charset="-120"/>
                        </a:rPr>
                        <a:t>Warm</a:t>
                      </a:r>
                      <a:endParaRPr lang="en-US" sz="1150" dirty="0">
                        <a:latin typeface="Calibri" charset="0"/>
                        <a:ea typeface="Calibri" charset="0"/>
                        <a:cs typeface="Calibri" charset="0"/>
                      </a:endParaRPr>
                    </a:p>
                  </a:txBody>
                  <a:tcPr marL="91440" marR="91440" marT="45720" marB="45720">
                    <a:lnL w="6350" cap="flat" cmpd="sng" algn="ctr">
                      <a:solidFill>
                        <a:srgbClr val="A89888"/>
                      </a:solidFill>
                      <a:prstDash val="solid"/>
                      <a:round/>
                      <a:headEnd type="none" w="med" len="med"/>
                      <a:tailEnd type="none" w="med" len="med"/>
                    </a:lnL>
                    <a:lnR w="6350" cap="flat" cmpd="sng" algn="ctr">
                      <a:solidFill>
                        <a:srgbClr val="A89888"/>
                      </a:solidFill>
                      <a:prstDash val="solid"/>
                      <a:round/>
                      <a:headEnd type="none" w="med" len="med"/>
                      <a:tailEnd type="none" w="med" len="med"/>
                    </a:lnR>
                    <a:lnT w="6350" cap="flat" cmpd="sng" algn="ctr">
                      <a:solidFill>
                        <a:srgbClr val="A89888"/>
                      </a:solidFill>
                      <a:prstDash val="solid"/>
                      <a:round/>
                      <a:headEnd type="none" w="med" len="med"/>
                      <a:tailEnd type="none" w="med" len="med"/>
                    </a:lnT>
                    <a:lnB w="6350" cap="flat" cmpd="sng" algn="ctr">
                      <a:solidFill>
                        <a:srgbClr val="A89888"/>
                      </a:solidFill>
                      <a:prstDash val="solid"/>
                      <a:round/>
                      <a:headEnd type="none" w="med" len="med"/>
                      <a:tailEnd type="none" w="med" len="med"/>
                    </a:lnB>
                  </a:tcPr>
                </a:tc>
                <a:tc>
                  <a:txBody>
                    <a:bodyPr/>
                    <a:lstStyle/>
                    <a:p>
                      <a:pPr indent="0" marL="0">
                        <a:buNone/>
                      </a:pPr>
                      <a:r>
                        <a:rPr lang="en-US" sz="1150" dirty="0">
                          <a:solidFill>
                            <a:srgbClr val="2D2D2D"/>
                          </a:solidFill>
                          <a:latin typeface="Calibri" pitchFamily="34" charset="0"/>
                          <a:ea typeface="Calibri" pitchFamily="34" charset="-122"/>
                          <a:cs typeface="Calibri" pitchFamily="34" charset="-120"/>
                        </a:rPr>
                        <a:t>We're inviting, never cold. Human connection is at the core.</a:t>
                      </a:r>
                      <a:endParaRPr lang="en-US" sz="1150" dirty="0">
                        <a:latin typeface="Calibri" charset="0"/>
                        <a:ea typeface="Calibri" charset="0"/>
                        <a:cs typeface="Calibri" charset="0"/>
                      </a:endParaRPr>
                    </a:p>
                  </a:txBody>
                  <a:tcPr marL="91440" marR="91440" marT="45720" marB="45720">
                    <a:lnL w="6350" cap="flat" cmpd="sng" algn="ctr">
                      <a:solidFill>
                        <a:srgbClr val="A89888"/>
                      </a:solidFill>
                      <a:prstDash val="solid"/>
                      <a:round/>
                      <a:headEnd type="none" w="med" len="med"/>
                      <a:tailEnd type="none" w="med" len="med"/>
                    </a:lnL>
                    <a:lnR w="6350" cap="flat" cmpd="sng" algn="ctr">
                      <a:solidFill>
                        <a:srgbClr val="A89888"/>
                      </a:solidFill>
                      <a:prstDash val="solid"/>
                      <a:round/>
                      <a:headEnd type="none" w="med" len="med"/>
                      <a:tailEnd type="none" w="med" len="med"/>
                    </a:lnR>
                    <a:lnT w="6350" cap="flat" cmpd="sng" algn="ctr">
                      <a:solidFill>
                        <a:srgbClr val="A89888"/>
                      </a:solidFill>
                      <a:prstDash val="solid"/>
                      <a:round/>
                      <a:headEnd type="none" w="med" len="med"/>
                      <a:tailEnd type="none" w="med" len="med"/>
                    </a:lnT>
                    <a:lnB w="6350" cap="flat" cmpd="sng" algn="ctr">
                      <a:solidFill>
                        <a:srgbClr val="A89888"/>
                      </a:solidFill>
                      <a:prstDash val="solid"/>
                      <a:round/>
                      <a:headEnd type="none" w="med" len="med"/>
                      <a:tailEnd type="none" w="med" len="med"/>
                    </a:lnB>
                  </a:tcPr>
                </a:tc>
              </a:tr>
              <a:tr h="347472">
                <a:tc>
                  <a:txBody>
                    <a:bodyPr/>
                    <a:lstStyle/>
                    <a:p>
                      <a:pPr indent="0" marL="0">
                        <a:buNone/>
                      </a:pPr>
                      <a:r>
                        <a:rPr lang="en-US" sz="1150" b="1" dirty="0">
                          <a:solidFill>
                            <a:srgbClr val="1A2D4A"/>
                          </a:solidFill>
                          <a:latin typeface="Calibri" pitchFamily="34" charset="0"/>
                          <a:ea typeface="Calibri" pitchFamily="34" charset="-122"/>
                          <a:cs typeface="Calibri" pitchFamily="34" charset="-120"/>
                        </a:rPr>
                        <a:t>Opinionated</a:t>
                      </a:r>
                      <a:endParaRPr lang="en-US" sz="1150" dirty="0">
                        <a:latin typeface="Calibri" charset="0"/>
                        <a:ea typeface="Calibri" charset="0"/>
                        <a:cs typeface="Calibri" charset="0"/>
                      </a:endParaRPr>
                    </a:p>
                  </a:txBody>
                  <a:tcPr marL="91440" marR="91440" marT="45720" marB="45720">
                    <a:lnL w="6350" cap="flat" cmpd="sng" algn="ctr">
                      <a:solidFill>
                        <a:srgbClr val="A89888"/>
                      </a:solidFill>
                      <a:prstDash val="solid"/>
                      <a:round/>
                      <a:headEnd type="none" w="med" len="med"/>
                      <a:tailEnd type="none" w="med" len="med"/>
                    </a:lnL>
                    <a:lnR w="6350" cap="flat" cmpd="sng" algn="ctr">
                      <a:solidFill>
                        <a:srgbClr val="A89888"/>
                      </a:solidFill>
                      <a:prstDash val="solid"/>
                      <a:round/>
                      <a:headEnd type="none" w="med" len="med"/>
                      <a:tailEnd type="none" w="med" len="med"/>
                    </a:lnR>
                    <a:lnT w="6350" cap="flat" cmpd="sng" algn="ctr">
                      <a:solidFill>
                        <a:srgbClr val="A89888"/>
                      </a:solidFill>
                      <a:prstDash val="solid"/>
                      <a:round/>
                      <a:headEnd type="none" w="med" len="med"/>
                      <a:tailEnd type="none" w="med" len="med"/>
                    </a:lnT>
                    <a:lnB w="6350" cap="flat" cmpd="sng" algn="ctr">
                      <a:solidFill>
                        <a:srgbClr val="A89888"/>
                      </a:solidFill>
                      <a:prstDash val="solid"/>
                      <a:round/>
                      <a:headEnd type="none" w="med" len="med"/>
                      <a:tailEnd type="none" w="med" len="med"/>
                    </a:lnB>
                  </a:tcPr>
                </a:tc>
                <a:tc>
                  <a:txBody>
                    <a:bodyPr/>
                    <a:lstStyle/>
                    <a:p>
                      <a:pPr indent="0" marL="0">
                        <a:buNone/>
                      </a:pPr>
                      <a:r>
                        <a:rPr lang="en-US" sz="1150" dirty="0">
                          <a:solidFill>
                            <a:srgbClr val="2D2D2D"/>
                          </a:solidFill>
                          <a:latin typeface="Calibri" pitchFamily="34" charset="0"/>
                          <a:ea typeface="Calibri" pitchFamily="34" charset="-122"/>
                          <a:cs typeface="Calibri" pitchFamily="34" charset="-120"/>
                        </a:rPr>
                        <a:t>We curate. Not everything makes the cut, and that's the point.</a:t>
                      </a:r>
                      <a:endParaRPr lang="en-US" sz="1150" dirty="0">
                        <a:latin typeface="Calibri" charset="0"/>
                        <a:ea typeface="Calibri" charset="0"/>
                        <a:cs typeface="Calibri" charset="0"/>
                      </a:endParaRPr>
                    </a:p>
                  </a:txBody>
                  <a:tcPr marL="91440" marR="91440" marT="45720" marB="45720">
                    <a:lnL w="6350" cap="flat" cmpd="sng" algn="ctr">
                      <a:solidFill>
                        <a:srgbClr val="A89888"/>
                      </a:solidFill>
                      <a:prstDash val="solid"/>
                      <a:round/>
                      <a:headEnd type="none" w="med" len="med"/>
                      <a:tailEnd type="none" w="med" len="med"/>
                    </a:lnL>
                    <a:lnR w="6350" cap="flat" cmpd="sng" algn="ctr">
                      <a:solidFill>
                        <a:srgbClr val="A89888"/>
                      </a:solidFill>
                      <a:prstDash val="solid"/>
                      <a:round/>
                      <a:headEnd type="none" w="med" len="med"/>
                      <a:tailEnd type="none" w="med" len="med"/>
                    </a:lnR>
                    <a:lnT w="6350" cap="flat" cmpd="sng" algn="ctr">
                      <a:solidFill>
                        <a:srgbClr val="A89888"/>
                      </a:solidFill>
                      <a:prstDash val="solid"/>
                      <a:round/>
                      <a:headEnd type="none" w="med" len="med"/>
                      <a:tailEnd type="none" w="med" len="med"/>
                    </a:lnT>
                    <a:lnB w="6350" cap="flat" cmpd="sng" algn="ctr">
                      <a:solidFill>
                        <a:srgbClr val="A89888"/>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C"/>
        </a:solidFill>
      </p:bgPr>
    </p:bg>
    <p:spTree>
      <p:nvGrpSpPr>
        <p:cNvPr id="1" name=""/>
        <p:cNvGrpSpPr/>
        <p:nvPr/>
      </p:nvGrpSpPr>
      <p:grpSpPr>
        <a:xfrm>
          <a:off x="0" y="0"/>
          <a:ext cx="0" cy="0"/>
          <a:chOff x="0" y="0"/>
          <a:chExt cx="0" cy="0"/>
        </a:xfrm>
      </p:grpSpPr>
      <p:sp>
        <p:nvSpPr>
          <p:cNvPr id="2" name="Text 0"/>
          <p:cNvSpPr/>
          <p:nvPr/>
        </p:nvSpPr>
        <p:spPr>
          <a:xfrm>
            <a:off x="457200" y="4709160"/>
            <a:ext cx="3657600" cy="320040"/>
          </a:xfrm>
          <a:prstGeom prst="rect">
            <a:avLst/>
          </a:prstGeom>
          <a:noFill/>
          <a:ln/>
        </p:spPr>
        <p:txBody>
          <a:bodyPr wrap="square" lIns="0" tIns="0" rIns="0" bIns="0" rtlCol="0" anchor="ctr"/>
          <a:lstStyle/>
          <a:p>
            <a:pPr indent="0" marL="0">
              <a:buNone/>
            </a:pPr>
            <a:r>
              <a:rPr lang="en-US" sz="800" dirty="0">
                <a:solidFill>
                  <a:srgbClr val="A89888"/>
                </a:solidFill>
                <a:latin typeface="Calibri" pitchFamily="34" charset="0"/>
                <a:ea typeface="Calibri" pitchFamily="34" charset="-122"/>
                <a:cs typeface="Calibri" pitchFamily="34" charset="-120"/>
              </a:rPr>
              <a:t>CONFIDENTIAL  ·  TERRAZZO</a:t>
            </a:r>
            <a:endParaRPr lang="en-US" sz="800" dirty="0"/>
          </a:p>
        </p:txBody>
      </p:sp>
      <p:sp>
        <p:nvSpPr>
          <p:cNvPr id="3" name="Text 1"/>
          <p:cNvSpPr/>
          <p:nvPr/>
        </p:nvSpPr>
        <p:spPr>
          <a:xfrm>
            <a:off x="731520" y="365760"/>
            <a:ext cx="7315200" cy="594360"/>
          </a:xfrm>
          <a:prstGeom prst="rect">
            <a:avLst/>
          </a:prstGeom>
          <a:noFill/>
          <a:ln/>
        </p:spPr>
        <p:txBody>
          <a:bodyPr wrap="square" lIns="0" tIns="0" rIns="0" bIns="0" rtlCol="0" anchor="ctr"/>
          <a:lstStyle/>
          <a:p>
            <a:pPr indent="0" marL="0">
              <a:buNone/>
            </a:pPr>
            <a:r>
              <a:rPr lang="en-US" sz="3200" b="1" dirty="0">
                <a:solidFill>
                  <a:srgbClr val="1A2D4A"/>
                </a:solidFill>
                <a:latin typeface="Georgia" pitchFamily="34" charset="0"/>
                <a:ea typeface="Georgia" pitchFamily="34" charset="-122"/>
                <a:cs typeface="Georgia" pitchFamily="34" charset="-120"/>
              </a:rPr>
              <a:t>Tone of Voice</a:t>
            </a:r>
            <a:endParaRPr lang="en-US" sz="3200" dirty="0"/>
          </a:p>
        </p:txBody>
      </p:sp>
      <p:sp>
        <p:nvSpPr>
          <p:cNvPr id="4" name="Shape 2"/>
          <p:cNvSpPr/>
          <p:nvPr/>
        </p:nvSpPr>
        <p:spPr>
          <a:xfrm>
            <a:off x="731520" y="1051560"/>
            <a:ext cx="7680960" cy="0"/>
          </a:xfrm>
          <a:prstGeom prst="line">
            <a:avLst/>
          </a:prstGeom>
          <a:noFill/>
          <a:ln w="19050">
            <a:solidFill>
              <a:srgbClr val="E86F5A"/>
            </a:solidFill>
            <a:prstDash val="solid"/>
          </a:ln>
        </p:spPr>
      </p:sp>
      <p:sp>
        <p:nvSpPr>
          <p:cNvPr id="5" name="Text 3"/>
          <p:cNvSpPr/>
          <p:nvPr/>
        </p:nvSpPr>
        <p:spPr>
          <a:xfrm>
            <a:off x="731520" y="123444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Voice Principles</a:t>
            </a:r>
            <a:endParaRPr lang="en-US" sz="1600" dirty="0"/>
          </a:p>
        </p:txBody>
      </p:sp>
      <p:sp>
        <p:nvSpPr>
          <p:cNvPr id="6" name="Text 4"/>
          <p:cNvSpPr/>
          <p:nvPr/>
        </p:nvSpPr>
        <p:spPr>
          <a:xfrm>
            <a:off x="731520" y="1691640"/>
            <a:ext cx="7680960" cy="292608"/>
          </a:xfrm>
          <a:prstGeom prst="rect">
            <a:avLst/>
          </a:prstGeom>
          <a:noFill/>
          <a:ln/>
        </p:spPr>
        <p:txBody>
          <a:bodyPr wrap="square" lIns="0" tIns="0" rIns="0" bIns="0" rtlCol="0" anchor="ctr"/>
          <a:lstStyle/>
          <a:p>
            <a:pPr indent="0" marL="0">
              <a:buNone/>
            </a:pPr>
            <a:r>
              <a:rPr lang="en-US" sz="1150" b="1" dirty="0">
                <a:solidFill>
                  <a:srgbClr val="1A2D4A"/>
                </a:solidFill>
                <a:latin typeface="Calibri" pitchFamily="34" charset="0"/>
                <a:ea typeface="Calibri" pitchFamily="34" charset="-122"/>
                <a:cs typeface="Calibri" pitchFamily="34" charset="-120"/>
              </a:rPr>
              <a:t>Vivid over vague.</a:t>
            </a:r>
            <a:pPr indent="0" marL="0">
              <a:buNone/>
            </a:pPr>
            <a:r>
              <a:rPr lang="en-US" sz="1150" dirty="0">
                <a:solidFill>
                  <a:srgbClr val="2D2D2D"/>
                </a:solidFill>
                <a:latin typeface="Calibri" pitchFamily="34" charset="0"/>
                <a:ea typeface="Calibri" pitchFamily="34" charset="-122"/>
                <a:cs typeface="Calibri" pitchFamily="34" charset="-120"/>
              </a:rPr>
              <a:t> Replace generic adjectives with specific, sensory language.</a:t>
            </a:r>
            <a:endParaRPr lang="en-US" sz="1150" dirty="0"/>
          </a:p>
        </p:txBody>
      </p:sp>
      <p:sp>
        <p:nvSpPr>
          <p:cNvPr id="7" name="Text 5"/>
          <p:cNvSpPr/>
          <p:nvPr/>
        </p:nvSpPr>
        <p:spPr>
          <a:xfrm>
            <a:off x="731520" y="2011680"/>
            <a:ext cx="7680960" cy="292608"/>
          </a:xfrm>
          <a:prstGeom prst="rect">
            <a:avLst/>
          </a:prstGeom>
          <a:noFill/>
          <a:ln/>
        </p:spPr>
        <p:txBody>
          <a:bodyPr wrap="square" lIns="0" tIns="0" rIns="0" bIns="0" rtlCol="0" anchor="ctr"/>
          <a:lstStyle/>
          <a:p>
            <a:pPr indent="0" marL="0">
              <a:buNone/>
            </a:pPr>
            <a:r>
              <a:rPr lang="en-US" sz="1150" b="1" dirty="0">
                <a:solidFill>
                  <a:srgbClr val="1A2D4A"/>
                </a:solidFill>
                <a:latin typeface="Calibri" pitchFamily="34" charset="0"/>
                <a:ea typeface="Calibri" pitchFamily="34" charset="-122"/>
                <a:cs typeface="Calibri" pitchFamily="34" charset="-120"/>
              </a:rPr>
              <a:t>Confident over cautious.</a:t>
            </a:r>
            <a:pPr indent="0" marL="0">
              <a:buNone/>
            </a:pPr>
            <a:r>
              <a:rPr lang="en-US" sz="1150" dirty="0">
                <a:solidFill>
                  <a:srgbClr val="2D2D2D"/>
                </a:solidFill>
                <a:latin typeface="Calibri" pitchFamily="34" charset="0"/>
                <a:ea typeface="Calibri" pitchFamily="34" charset="-122"/>
                <a:cs typeface="Calibri" pitchFamily="34" charset="-120"/>
              </a:rPr>
              <a:t> "Go here" not "You might want to consider visiting."</a:t>
            </a:r>
            <a:endParaRPr lang="en-US" sz="1150" dirty="0"/>
          </a:p>
        </p:txBody>
      </p:sp>
      <p:sp>
        <p:nvSpPr>
          <p:cNvPr id="8" name="Text 6"/>
          <p:cNvSpPr/>
          <p:nvPr/>
        </p:nvSpPr>
        <p:spPr>
          <a:xfrm>
            <a:off x="731520" y="2331720"/>
            <a:ext cx="7680960" cy="292608"/>
          </a:xfrm>
          <a:prstGeom prst="rect">
            <a:avLst/>
          </a:prstGeom>
          <a:noFill/>
          <a:ln/>
        </p:spPr>
        <p:txBody>
          <a:bodyPr wrap="square" lIns="0" tIns="0" rIns="0" bIns="0" rtlCol="0" anchor="ctr"/>
          <a:lstStyle/>
          <a:p>
            <a:pPr indent="0" marL="0">
              <a:buNone/>
            </a:pPr>
            <a:r>
              <a:rPr lang="en-US" sz="1150" b="1" dirty="0">
                <a:solidFill>
                  <a:srgbClr val="1A2D4A"/>
                </a:solidFill>
                <a:latin typeface="Calibri" pitchFamily="34" charset="0"/>
                <a:ea typeface="Calibri" pitchFamily="34" charset="-122"/>
                <a:cs typeface="Calibri" pitchFamily="34" charset="-120"/>
              </a:rPr>
              <a:t>Warm over corporate.</a:t>
            </a:r>
            <a:pPr indent="0" marL="0">
              <a:buNone/>
            </a:pPr>
            <a:r>
              <a:rPr lang="en-US" sz="1150" dirty="0">
                <a:solidFill>
                  <a:srgbClr val="2D2D2D"/>
                </a:solidFill>
                <a:latin typeface="Calibri" pitchFamily="34" charset="0"/>
                <a:ea typeface="Calibri" pitchFamily="34" charset="-122"/>
                <a:cs typeface="Calibri" pitchFamily="34" charset="-120"/>
              </a:rPr>
              <a:t> First-person plural ("we") and second-person ("you"). Contractions always.</a:t>
            </a:r>
            <a:endParaRPr lang="en-US" sz="1150" dirty="0"/>
          </a:p>
        </p:txBody>
      </p:sp>
      <p:sp>
        <p:nvSpPr>
          <p:cNvPr id="9" name="Text 7"/>
          <p:cNvSpPr/>
          <p:nvPr/>
        </p:nvSpPr>
        <p:spPr>
          <a:xfrm>
            <a:off x="731520" y="2651760"/>
            <a:ext cx="7680960" cy="292608"/>
          </a:xfrm>
          <a:prstGeom prst="rect">
            <a:avLst/>
          </a:prstGeom>
          <a:noFill/>
          <a:ln/>
        </p:spPr>
        <p:txBody>
          <a:bodyPr wrap="square" lIns="0" tIns="0" rIns="0" bIns="0" rtlCol="0" anchor="ctr"/>
          <a:lstStyle/>
          <a:p>
            <a:pPr indent="0" marL="0">
              <a:buNone/>
            </a:pPr>
            <a:r>
              <a:rPr lang="en-US" sz="1150" b="1" dirty="0">
                <a:solidFill>
                  <a:srgbClr val="1A2D4A"/>
                </a:solidFill>
                <a:latin typeface="Calibri" pitchFamily="34" charset="0"/>
                <a:ea typeface="Calibri" pitchFamily="34" charset="-122"/>
                <a:cs typeface="Calibri" pitchFamily="34" charset="-120"/>
              </a:rPr>
              <a:t>Short over sprawling.</a:t>
            </a:r>
            <a:pPr indent="0" marL="0">
              <a:buNone/>
            </a:pPr>
            <a:r>
              <a:rPr lang="en-US" sz="1150" dirty="0">
                <a:solidFill>
                  <a:srgbClr val="2D2D2D"/>
                </a:solidFill>
                <a:latin typeface="Calibri" pitchFamily="34" charset="0"/>
                <a:ea typeface="Calibri" pitchFamily="34" charset="-122"/>
                <a:cs typeface="Calibri" pitchFamily="34" charset="-120"/>
              </a:rPr>
              <a:t> Punchy sentences. Let the destination do the heavy lifting.</a:t>
            </a:r>
            <a:endParaRPr lang="en-US" sz="1150" dirty="0"/>
          </a:p>
        </p:txBody>
      </p:sp>
      <p:sp>
        <p:nvSpPr>
          <p:cNvPr id="10" name="Text 8"/>
          <p:cNvSpPr/>
          <p:nvPr/>
        </p:nvSpPr>
        <p:spPr>
          <a:xfrm>
            <a:off x="731520" y="2971800"/>
            <a:ext cx="7680960" cy="292608"/>
          </a:xfrm>
          <a:prstGeom prst="rect">
            <a:avLst/>
          </a:prstGeom>
          <a:noFill/>
          <a:ln/>
        </p:spPr>
        <p:txBody>
          <a:bodyPr wrap="square" lIns="0" tIns="0" rIns="0" bIns="0" rtlCol="0" anchor="ctr"/>
          <a:lstStyle/>
          <a:p>
            <a:pPr indent="0" marL="0">
              <a:buNone/>
            </a:pPr>
            <a:r>
              <a:rPr lang="en-US" sz="1150" b="1" dirty="0">
                <a:solidFill>
                  <a:srgbClr val="1A2D4A"/>
                </a:solidFill>
                <a:latin typeface="Calibri" pitchFamily="34" charset="0"/>
                <a:ea typeface="Calibri" pitchFamily="34" charset="-122"/>
                <a:cs typeface="Calibri" pitchFamily="34" charset="-120"/>
              </a:rPr>
              <a:t>Playful over precious.</a:t>
            </a:r>
            <a:pPr indent="0" marL="0">
              <a:buNone/>
            </a:pPr>
            <a:r>
              <a:rPr lang="en-US" sz="1150" dirty="0">
                <a:solidFill>
                  <a:srgbClr val="2D2D2D"/>
                </a:solidFill>
                <a:latin typeface="Calibri" pitchFamily="34" charset="0"/>
                <a:ea typeface="Calibri" pitchFamily="34" charset="-122"/>
                <a:cs typeface="Calibri" pitchFamily="34" charset="-120"/>
              </a:rPr>
              <a:t> We can be witty and irreverent but never at anyone's expense.</a:t>
            </a:r>
            <a:endParaRPr lang="en-US" sz="1150" dirty="0"/>
          </a:p>
        </p:txBody>
      </p:sp>
      <p:sp>
        <p:nvSpPr>
          <p:cNvPr id="11" name="Text 9"/>
          <p:cNvSpPr/>
          <p:nvPr/>
        </p:nvSpPr>
        <p:spPr>
          <a:xfrm>
            <a:off x="731520" y="324612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Tone Examples</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3566160"/>
          <a:ext cx="7680960" cy="914400"/>
        </p:xfrm>
        <a:graphic>
          <a:graphicData uri="http://schemas.openxmlformats.org/drawingml/2006/table">
            <a:tbl>
              <a:tblPr/>
              <a:tblGrid>
                <a:gridCol w="3840480"/>
                <a:gridCol w="3840480"/>
              </a:tblGrid>
              <a:tr h="25603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DON'T WRITE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6F5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DO WRITE</a:t>
                      </a:r>
                      <a:endParaRPr lang="en-US" sz="100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5EC4B2"/>
                    </a:solidFill>
                  </a:tcPr>
                </a:tc>
              </a:tr>
              <a:tr h="274320">
                <a:tc>
                  <a:txBody>
                    <a:bodyPr/>
                    <a:lstStyle/>
                    <a:p>
                      <a:pPr indent="0" marL="0">
                        <a:buNone/>
                      </a:pPr>
                      <a:r>
                        <a:rPr lang="en-US" sz="1050" i="1" dirty="0">
                          <a:solidFill>
                            <a:srgbClr val="2D2D2D"/>
                          </a:solidFill>
                          <a:latin typeface="Calibri" pitchFamily="34" charset="0"/>
                          <a:ea typeface="Calibri" pitchFamily="34" charset="-122"/>
                          <a:cs typeface="Calibri" pitchFamily="34" charset="-120"/>
                        </a:rPr>
                        <a:t>Explore our curated selection of premium travel experiences.</a:t>
                      </a:r>
                      <a:endParaRPr lang="en-US" sz="10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50" dirty="0">
                          <a:solidFill>
                            <a:srgbClr val="2D2D2D"/>
                          </a:solidFill>
                          <a:latin typeface="Calibri" pitchFamily="34" charset="0"/>
                          <a:ea typeface="Calibri" pitchFamily="34" charset="-122"/>
                          <a:cs typeface="Calibri" pitchFamily="34" charset="-120"/>
                        </a:rPr>
                        <a:t>Fifteen places we'd actually book a flight for.</a:t>
                      </a:r>
                      <a:endParaRPr lang="en-US" sz="10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74320">
                <a:tc>
                  <a:txBody>
                    <a:bodyPr/>
                    <a:lstStyle/>
                    <a:p>
                      <a:pPr indent="0" marL="0">
                        <a:buNone/>
                      </a:pPr>
                      <a:r>
                        <a:rPr lang="en-US" sz="1050" i="1" dirty="0">
                          <a:solidFill>
                            <a:srgbClr val="2D2D2D"/>
                          </a:solidFill>
                          <a:latin typeface="Calibri" pitchFamily="34" charset="0"/>
                          <a:ea typeface="Calibri" pitchFamily="34" charset="-122"/>
                          <a:cs typeface="Calibri" pitchFamily="34" charset="-120"/>
                        </a:rPr>
                        <a:t>This charming Italian city offers a variety of cultural attractions for the discerning traveler.</a:t>
                      </a:r>
                      <a:endParaRPr lang="en-US" sz="10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50" dirty="0">
                          <a:solidFill>
                            <a:srgbClr val="2D2D2D"/>
                          </a:solidFill>
                          <a:latin typeface="Calibri" pitchFamily="34" charset="0"/>
                          <a:ea typeface="Calibri" pitchFamily="34" charset="-122"/>
                          <a:cs typeface="Calibri" pitchFamily="34" charset="-120"/>
                        </a:rPr>
                        <a:t>Bologna: the city that eats better than anywhere you've been.</a:t>
                      </a:r>
                      <a:endParaRPr lang="en-US" sz="10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74320">
                <a:tc>
                  <a:txBody>
                    <a:bodyPr/>
                    <a:lstStyle/>
                    <a:p>
                      <a:pPr indent="0" marL="0">
                        <a:buNone/>
                      </a:pPr>
                      <a:r>
                        <a:rPr lang="en-US" sz="1050" i="1" dirty="0">
                          <a:solidFill>
                            <a:srgbClr val="2D2D2D"/>
                          </a:solidFill>
                          <a:latin typeface="Calibri" pitchFamily="34" charset="0"/>
                          <a:ea typeface="Calibri" pitchFamily="34" charset="-122"/>
                          <a:cs typeface="Calibri" pitchFamily="34" charset="-120"/>
                        </a:rPr>
                        <a:t>Discover amazing destinations and create unforgettable memories with our app.</a:t>
                      </a:r>
                      <a:endParaRPr lang="en-US" sz="10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50" dirty="0">
                          <a:solidFill>
                            <a:srgbClr val="2D2D2D"/>
                          </a:solidFill>
                          <a:latin typeface="Calibri" pitchFamily="34" charset="0"/>
                          <a:ea typeface="Calibri" pitchFamily="34" charset="-122"/>
                          <a:cs typeface="Calibri" pitchFamily="34" charset="-120"/>
                        </a:rPr>
                        <a:t>Your next obsession is a swipe away.</a:t>
                      </a:r>
                      <a:endParaRPr lang="en-US" sz="1050" dirty="0">
                        <a:latin typeface="Calibri" charset="0"/>
                        <a:ea typeface="Calibri" charset="0"/>
                        <a:cs typeface="Calibri"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D4A"/>
        </a:solidFill>
      </p:bgPr>
    </p:bg>
    <p:spTree>
      <p:nvGrpSpPr>
        <p:cNvPr id="1" name=""/>
        <p:cNvGrpSpPr/>
        <p:nvPr/>
      </p:nvGrpSpPr>
      <p:grpSpPr>
        <a:xfrm>
          <a:off x="0" y="0"/>
          <a:ext cx="0" cy="0"/>
          <a:chOff x="0" y="0"/>
          <a:chExt cx="0" cy="0"/>
        </a:xfrm>
      </p:grpSpPr>
      <p:sp>
        <p:nvSpPr>
          <p:cNvPr id="2" name="Shape 0"/>
          <p:cNvSpPr/>
          <p:nvPr/>
        </p:nvSpPr>
        <p:spPr>
          <a:xfrm>
            <a:off x="5943600" y="1828800"/>
            <a:ext cx="4572000" cy="4572000"/>
          </a:xfrm>
          <a:prstGeom prst="ellipse">
            <a:avLst/>
          </a:prstGeom>
          <a:solidFill>
            <a:srgbClr val="E86F5A">
              <a:alpha val="80000"/>
            </a:srgbClr>
          </a:solidFill>
          <a:ln/>
        </p:spPr>
      </p:sp>
      <p:sp>
        <p:nvSpPr>
          <p:cNvPr id="3" name="Shape 1"/>
          <p:cNvSpPr/>
          <p:nvPr/>
        </p:nvSpPr>
        <p:spPr>
          <a:xfrm>
            <a:off x="6858000" y="-1371600"/>
            <a:ext cx="2743200" cy="2743200"/>
          </a:xfrm>
          <a:prstGeom prst="ellipse">
            <a:avLst/>
          </a:prstGeom>
          <a:solidFill>
            <a:srgbClr val="5EC4B2">
              <a:alpha val="70000"/>
            </a:srgbClr>
          </a:solidFill>
          <a:ln/>
        </p:spPr>
      </p:sp>
      <p:sp>
        <p:nvSpPr>
          <p:cNvPr id="4" name="Text 2"/>
          <p:cNvSpPr/>
          <p:nvPr/>
        </p:nvSpPr>
        <p:spPr>
          <a:xfrm>
            <a:off x="731520" y="1645920"/>
            <a:ext cx="5486400" cy="137160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Color Palette</a:t>
            </a:r>
            <a:endParaRPr lang="en-US" sz="4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C"/>
        </a:solidFill>
      </p:bgPr>
    </p:bg>
    <p:spTree>
      <p:nvGrpSpPr>
        <p:cNvPr id="1" name=""/>
        <p:cNvGrpSpPr/>
        <p:nvPr/>
      </p:nvGrpSpPr>
      <p:grpSpPr>
        <a:xfrm>
          <a:off x="0" y="0"/>
          <a:ext cx="0" cy="0"/>
          <a:chOff x="0" y="0"/>
          <a:chExt cx="0" cy="0"/>
        </a:xfrm>
      </p:grpSpPr>
      <p:sp>
        <p:nvSpPr>
          <p:cNvPr id="2" name="Text 0"/>
          <p:cNvSpPr/>
          <p:nvPr/>
        </p:nvSpPr>
        <p:spPr>
          <a:xfrm>
            <a:off x="457200" y="4709160"/>
            <a:ext cx="3657600" cy="320040"/>
          </a:xfrm>
          <a:prstGeom prst="rect">
            <a:avLst/>
          </a:prstGeom>
          <a:noFill/>
          <a:ln/>
        </p:spPr>
        <p:txBody>
          <a:bodyPr wrap="square" lIns="0" tIns="0" rIns="0" bIns="0" rtlCol="0" anchor="ctr"/>
          <a:lstStyle/>
          <a:p>
            <a:pPr indent="0" marL="0">
              <a:buNone/>
            </a:pPr>
            <a:r>
              <a:rPr lang="en-US" sz="800" dirty="0">
                <a:solidFill>
                  <a:srgbClr val="A89888"/>
                </a:solidFill>
                <a:latin typeface="Calibri" pitchFamily="34" charset="0"/>
                <a:ea typeface="Calibri" pitchFamily="34" charset="-122"/>
                <a:cs typeface="Calibri" pitchFamily="34" charset="-120"/>
              </a:rPr>
              <a:t>CONFIDENTIAL  ·  TERRAZZO</a:t>
            </a:r>
            <a:endParaRPr lang="en-US" sz="800" dirty="0"/>
          </a:p>
        </p:txBody>
      </p:sp>
      <p:sp>
        <p:nvSpPr>
          <p:cNvPr id="3" name="Text 1"/>
          <p:cNvSpPr/>
          <p:nvPr/>
        </p:nvSpPr>
        <p:spPr>
          <a:xfrm>
            <a:off x="731520" y="365760"/>
            <a:ext cx="7315200" cy="594360"/>
          </a:xfrm>
          <a:prstGeom prst="rect">
            <a:avLst/>
          </a:prstGeom>
          <a:noFill/>
          <a:ln/>
        </p:spPr>
        <p:txBody>
          <a:bodyPr wrap="square" lIns="0" tIns="0" rIns="0" bIns="0" rtlCol="0" anchor="ctr"/>
          <a:lstStyle/>
          <a:p>
            <a:pPr indent="0" marL="0">
              <a:buNone/>
            </a:pPr>
            <a:r>
              <a:rPr lang="en-US" sz="3200" b="1" dirty="0">
                <a:solidFill>
                  <a:srgbClr val="1A2D4A"/>
                </a:solidFill>
                <a:latin typeface="Georgia" pitchFamily="34" charset="0"/>
                <a:ea typeface="Georgia" pitchFamily="34" charset="-122"/>
                <a:cs typeface="Georgia" pitchFamily="34" charset="-120"/>
              </a:rPr>
              <a:t>Brand Colors</a:t>
            </a:r>
            <a:endParaRPr lang="en-US" sz="3200" dirty="0"/>
          </a:p>
        </p:txBody>
      </p:sp>
      <p:sp>
        <p:nvSpPr>
          <p:cNvPr id="4" name="Shape 2"/>
          <p:cNvSpPr/>
          <p:nvPr/>
        </p:nvSpPr>
        <p:spPr>
          <a:xfrm>
            <a:off x="731520" y="1051560"/>
            <a:ext cx="7680960" cy="0"/>
          </a:xfrm>
          <a:prstGeom prst="line">
            <a:avLst/>
          </a:prstGeom>
          <a:noFill/>
          <a:ln w="19050">
            <a:solidFill>
              <a:srgbClr val="E86F5A"/>
            </a:solidFill>
            <a:prstDash val="solid"/>
          </a:ln>
        </p:spPr>
      </p:sp>
      <p:sp>
        <p:nvSpPr>
          <p:cNvPr id="5" name="Text 3"/>
          <p:cNvSpPr/>
          <p:nvPr/>
        </p:nvSpPr>
        <p:spPr>
          <a:xfrm>
            <a:off x="731520" y="1234440"/>
            <a:ext cx="7680960" cy="548640"/>
          </a:xfrm>
          <a:prstGeom prst="rect">
            <a:avLst/>
          </a:prstGeom>
          <a:noFill/>
          <a:ln/>
        </p:spPr>
        <p:txBody>
          <a:bodyPr wrap="square" lIns="0" tIns="0" rIns="0" bIns="0" rtlCol="0" anchor="ctr"/>
          <a:lstStyle/>
          <a:p>
            <a:pPr indent="0" marL="0">
              <a:lnSpc>
                <a:spcPct val="130000"/>
              </a:lnSpc>
              <a:buNone/>
            </a:pPr>
            <a:r>
              <a:rPr lang="en-US" sz="1150" dirty="0">
                <a:solidFill>
                  <a:srgbClr val="2D2D2D"/>
                </a:solidFill>
                <a:latin typeface="Calibri" pitchFamily="34" charset="0"/>
                <a:ea typeface="Calibri" pitchFamily="34" charset="-122"/>
                <a:cs typeface="Calibri" pitchFamily="34" charset="-120"/>
              </a:rPr>
              <a:t>The Terrazzo palette draws from Italian Futurist poster art and sun-drenched Mediterranean landscapes. Colors are used in bold, flat fields — never as thin accents or subtle tints. Every color should feel like it could hold a full poster on its own.</a:t>
            </a:r>
            <a:endParaRPr lang="en-US" sz="1150" dirty="0"/>
          </a:p>
        </p:txBody>
      </p:sp>
      <p:sp>
        <p:nvSpPr>
          <p:cNvPr id="6" name="Shape 4"/>
          <p:cNvSpPr/>
          <p:nvPr/>
        </p:nvSpPr>
        <p:spPr>
          <a:xfrm>
            <a:off x="731520" y="1965960"/>
            <a:ext cx="640080" cy="640080"/>
          </a:xfrm>
          <a:prstGeom prst="rect">
            <a:avLst/>
          </a:prstGeom>
          <a:solidFill>
            <a:srgbClr val="E86F5A"/>
          </a:solidFill>
          <a:ln w="6350">
            <a:solidFill>
              <a:srgbClr val="C8BFA8"/>
            </a:solidFill>
            <a:prstDash val="solid"/>
          </a:ln>
        </p:spPr>
      </p:sp>
      <p:sp>
        <p:nvSpPr>
          <p:cNvPr id="7" name="Text 5"/>
          <p:cNvSpPr/>
          <p:nvPr/>
        </p:nvSpPr>
        <p:spPr>
          <a:xfrm>
            <a:off x="1508760" y="2011680"/>
            <a:ext cx="1645920" cy="274320"/>
          </a:xfrm>
          <a:prstGeom prst="rect">
            <a:avLst/>
          </a:prstGeom>
          <a:noFill/>
          <a:ln/>
        </p:spPr>
        <p:txBody>
          <a:bodyPr wrap="square" lIns="0" tIns="0" rIns="0" bIns="0" rtlCol="0" anchor="ctr"/>
          <a:lstStyle/>
          <a:p>
            <a:pPr indent="0" marL="0">
              <a:buNone/>
            </a:pPr>
            <a:r>
              <a:rPr lang="en-US" sz="1200" b="1" dirty="0">
                <a:solidFill>
                  <a:srgbClr val="1A2D4A"/>
                </a:solidFill>
                <a:latin typeface="Calibri" pitchFamily="34" charset="0"/>
                <a:ea typeface="Calibri" pitchFamily="34" charset="-122"/>
                <a:cs typeface="Calibri" pitchFamily="34" charset="-120"/>
              </a:rPr>
              <a:t>Coral</a:t>
            </a:r>
            <a:endParaRPr lang="en-US" sz="1200" dirty="0"/>
          </a:p>
        </p:txBody>
      </p:sp>
      <p:sp>
        <p:nvSpPr>
          <p:cNvPr id="8" name="Text 6"/>
          <p:cNvSpPr/>
          <p:nvPr/>
        </p:nvSpPr>
        <p:spPr>
          <a:xfrm>
            <a:off x="1508760" y="2286000"/>
            <a:ext cx="1645920" cy="228600"/>
          </a:xfrm>
          <a:prstGeom prst="rect">
            <a:avLst/>
          </a:prstGeom>
          <a:noFill/>
          <a:ln/>
        </p:spPr>
        <p:txBody>
          <a:bodyPr wrap="square" lIns="0" tIns="0" rIns="0" bIns="0" rtlCol="0" anchor="ctr"/>
          <a:lstStyle/>
          <a:p>
            <a:pPr indent="0" marL="0">
              <a:buNone/>
            </a:pPr>
            <a:r>
              <a:rPr lang="en-US" sz="1000" dirty="0">
                <a:solidFill>
                  <a:srgbClr val="A89888"/>
                </a:solidFill>
                <a:latin typeface="Calibri" pitchFamily="34" charset="0"/>
                <a:ea typeface="Calibri" pitchFamily="34" charset="-122"/>
                <a:cs typeface="Calibri" pitchFamily="34" charset="-120"/>
              </a:rPr>
              <a:t>#E86F5A</a:t>
            </a:r>
            <a:endParaRPr lang="en-US" sz="1000" dirty="0"/>
          </a:p>
        </p:txBody>
      </p:sp>
      <p:sp>
        <p:nvSpPr>
          <p:cNvPr id="9" name="Shape 7"/>
          <p:cNvSpPr/>
          <p:nvPr/>
        </p:nvSpPr>
        <p:spPr>
          <a:xfrm>
            <a:off x="3474720" y="1965960"/>
            <a:ext cx="640080" cy="640080"/>
          </a:xfrm>
          <a:prstGeom prst="rect">
            <a:avLst/>
          </a:prstGeom>
          <a:solidFill>
            <a:srgbClr val="1A2D4A"/>
          </a:solidFill>
          <a:ln w="6350">
            <a:solidFill>
              <a:srgbClr val="C8BFA8"/>
            </a:solidFill>
            <a:prstDash val="solid"/>
          </a:ln>
        </p:spPr>
      </p:sp>
      <p:sp>
        <p:nvSpPr>
          <p:cNvPr id="10" name="Text 8"/>
          <p:cNvSpPr/>
          <p:nvPr/>
        </p:nvSpPr>
        <p:spPr>
          <a:xfrm>
            <a:off x="4251960" y="2011680"/>
            <a:ext cx="1645920" cy="274320"/>
          </a:xfrm>
          <a:prstGeom prst="rect">
            <a:avLst/>
          </a:prstGeom>
          <a:noFill/>
          <a:ln/>
        </p:spPr>
        <p:txBody>
          <a:bodyPr wrap="square" lIns="0" tIns="0" rIns="0" bIns="0" rtlCol="0" anchor="ctr"/>
          <a:lstStyle/>
          <a:p>
            <a:pPr indent="0" marL="0">
              <a:buNone/>
            </a:pPr>
            <a:r>
              <a:rPr lang="en-US" sz="1200" b="1" dirty="0">
                <a:solidFill>
                  <a:srgbClr val="1A2D4A"/>
                </a:solidFill>
                <a:latin typeface="Calibri" pitchFamily="34" charset="0"/>
                <a:ea typeface="Calibri" pitchFamily="34" charset="-122"/>
                <a:cs typeface="Calibri" pitchFamily="34" charset="-120"/>
              </a:rPr>
              <a:t>Navy</a:t>
            </a:r>
            <a:endParaRPr lang="en-US" sz="1200" dirty="0"/>
          </a:p>
        </p:txBody>
      </p:sp>
      <p:sp>
        <p:nvSpPr>
          <p:cNvPr id="11" name="Text 9"/>
          <p:cNvSpPr/>
          <p:nvPr/>
        </p:nvSpPr>
        <p:spPr>
          <a:xfrm>
            <a:off x="4251960" y="2286000"/>
            <a:ext cx="1645920" cy="228600"/>
          </a:xfrm>
          <a:prstGeom prst="rect">
            <a:avLst/>
          </a:prstGeom>
          <a:noFill/>
          <a:ln/>
        </p:spPr>
        <p:txBody>
          <a:bodyPr wrap="square" lIns="0" tIns="0" rIns="0" bIns="0" rtlCol="0" anchor="ctr"/>
          <a:lstStyle/>
          <a:p>
            <a:pPr indent="0" marL="0">
              <a:buNone/>
            </a:pPr>
            <a:r>
              <a:rPr lang="en-US" sz="1000" dirty="0">
                <a:solidFill>
                  <a:srgbClr val="A89888"/>
                </a:solidFill>
                <a:latin typeface="Calibri" pitchFamily="34" charset="0"/>
                <a:ea typeface="Calibri" pitchFamily="34" charset="-122"/>
                <a:cs typeface="Calibri" pitchFamily="34" charset="-120"/>
              </a:rPr>
              <a:t>#1A2D4A</a:t>
            </a:r>
            <a:endParaRPr lang="en-US" sz="1000" dirty="0"/>
          </a:p>
        </p:txBody>
      </p:sp>
      <p:sp>
        <p:nvSpPr>
          <p:cNvPr id="12" name="Shape 10"/>
          <p:cNvSpPr/>
          <p:nvPr/>
        </p:nvSpPr>
        <p:spPr>
          <a:xfrm>
            <a:off x="6217920" y="1965960"/>
            <a:ext cx="640080" cy="640080"/>
          </a:xfrm>
          <a:prstGeom prst="rect">
            <a:avLst/>
          </a:prstGeom>
          <a:solidFill>
            <a:srgbClr val="5EC4B2"/>
          </a:solidFill>
          <a:ln w="6350">
            <a:solidFill>
              <a:srgbClr val="C8BFA8"/>
            </a:solidFill>
            <a:prstDash val="solid"/>
          </a:ln>
        </p:spPr>
      </p:sp>
      <p:sp>
        <p:nvSpPr>
          <p:cNvPr id="13" name="Text 11"/>
          <p:cNvSpPr/>
          <p:nvPr/>
        </p:nvSpPr>
        <p:spPr>
          <a:xfrm>
            <a:off x="6995160" y="2011680"/>
            <a:ext cx="1645920" cy="274320"/>
          </a:xfrm>
          <a:prstGeom prst="rect">
            <a:avLst/>
          </a:prstGeom>
          <a:noFill/>
          <a:ln/>
        </p:spPr>
        <p:txBody>
          <a:bodyPr wrap="square" lIns="0" tIns="0" rIns="0" bIns="0" rtlCol="0" anchor="ctr"/>
          <a:lstStyle/>
          <a:p>
            <a:pPr indent="0" marL="0">
              <a:buNone/>
            </a:pPr>
            <a:r>
              <a:rPr lang="en-US" sz="1200" b="1" dirty="0">
                <a:solidFill>
                  <a:srgbClr val="1A2D4A"/>
                </a:solidFill>
                <a:latin typeface="Calibri" pitchFamily="34" charset="0"/>
                <a:ea typeface="Calibri" pitchFamily="34" charset="-122"/>
                <a:cs typeface="Calibri" pitchFamily="34" charset="-120"/>
              </a:rPr>
              <a:t>Mint Teal</a:t>
            </a:r>
            <a:endParaRPr lang="en-US" sz="1200" dirty="0"/>
          </a:p>
        </p:txBody>
      </p:sp>
      <p:sp>
        <p:nvSpPr>
          <p:cNvPr id="14" name="Text 12"/>
          <p:cNvSpPr/>
          <p:nvPr/>
        </p:nvSpPr>
        <p:spPr>
          <a:xfrm>
            <a:off x="6995160" y="2286000"/>
            <a:ext cx="1645920" cy="228600"/>
          </a:xfrm>
          <a:prstGeom prst="rect">
            <a:avLst/>
          </a:prstGeom>
          <a:noFill/>
          <a:ln/>
        </p:spPr>
        <p:txBody>
          <a:bodyPr wrap="square" lIns="0" tIns="0" rIns="0" bIns="0" rtlCol="0" anchor="ctr"/>
          <a:lstStyle/>
          <a:p>
            <a:pPr indent="0" marL="0">
              <a:buNone/>
            </a:pPr>
            <a:r>
              <a:rPr lang="en-US" sz="1000" dirty="0">
                <a:solidFill>
                  <a:srgbClr val="A89888"/>
                </a:solidFill>
                <a:latin typeface="Calibri" pitchFamily="34" charset="0"/>
                <a:ea typeface="Calibri" pitchFamily="34" charset="-122"/>
                <a:cs typeface="Calibri" pitchFamily="34" charset="-120"/>
              </a:rPr>
              <a:t>#5EC4B2</a:t>
            </a:r>
            <a:endParaRPr lang="en-US" sz="1000" dirty="0"/>
          </a:p>
        </p:txBody>
      </p:sp>
      <p:sp>
        <p:nvSpPr>
          <p:cNvPr id="15" name="Shape 13"/>
          <p:cNvSpPr/>
          <p:nvPr/>
        </p:nvSpPr>
        <p:spPr>
          <a:xfrm>
            <a:off x="731520" y="3017520"/>
            <a:ext cx="640080" cy="640080"/>
          </a:xfrm>
          <a:prstGeom prst="rect">
            <a:avLst/>
          </a:prstGeom>
          <a:solidFill>
            <a:srgbClr val="F4BFA0"/>
          </a:solidFill>
          <a:ln w="6350">
            <a:solidFill>
              <a:srgbClr val="C8BFA8"/>
            </a:solidFill>
            <a:prstDash val="solid"/>
          </a:ln>
        </p:spPr>
      </p:sp>
      <p:sp>
        <p:nvSpPr>
          <p:cNvPr id="16" name="Text 14"/>
          <p:cNvSpPr/>
          <p:nvPr/>
        </p:nvSpPr>
        <p:spPr>
          <a:xfrm>
            <a:off x="1508760" y="3063240"/>
            <a:ext cx="1645920" cy="274320"/>
          </a:xfrm>
          <a:prstGeom prst="rect">
            <a:avLst/>
          </a:prstGeom>
          <a:noFill/>
          <a:ln/>
        </p:spPr>
        <p:txBody>
          <a:bodyPr wrap="square" lIns="0" tIns="0" rIns="0" bIns="0" rtlCol="0" anchor="ctr"/>
          <a:lstStyle/>
          <a:p>
            <a:pPr indent="0" marL="0">
              <a:buNone/>
            </a:pPr>
            <a:r>
              <a:rPr lang="en-US" sz="1200" b="1" dirty="0">
                <a:solidFill>
                  <a:srgbClr val="1A2D4A"/>
                </a:solidFill>
                <a:latin typeface="Calibri" pitchFamily="34" charset="0"/>
                <a:ea typeface="Calibri" pitchFamily="34" charset="-122"/>
                <a:cs typeface="Calibri" pitchFamily="34" charset="-120"/>
              </a:rPr>
              <a:t>Peach</a:t>
            </a:r>
            <a:endParaRPr lang="en-US" sz="1200" dirty="0"/>
          </a:p>
        </p:txBody>
      </p:sp>
      <p:sp>
        <p:nvSpPr>
          <p:cNvPr id="17" name="Text 15"/>
          <p:cNvSpPr/>
          <p:nvPr/>
        </p:nvSpPr>
        <p:spPr>
          <a:xfrm>
            <a:off x="1508760" y="3337560"/>
            <a:ext cx="1645920" cy="228600"/>
          </a:xfrm>
          <a:prstGeom prst="rect">
            <a:avLst/>
          </a:prstGeom>
          <a:noFill/>
          <a:ln/>
        </p:spPr>
        <p:txBody>
          <a:bodyPr wrap="square" lIns="0" tIns="0" rIns="0" bIns="0" rtlCol="0" anchor="ctr"/>
          <a:lstStyle/>
          <a:p>
            <a:pPr indent="0" marL="0">
              <a:buNone/>
            </a:pPr>
            <a:r>
              <a:rPr lang="en-US" sz="1000" dirty="0">
                <a:solidFill>
                  <a:srgbClr val="A89888"/>
                </a:solidFill>
                <a:latin typeface="Calibri" pitchFamily="34" charset="0"/>
                <a:ea typeface="Calibri" pitchFamily="34" charset="-122"/>
                <a:cs typeface="Calibri" pitchFamily="34" charset="-120"/>
              </a:rPr>
              <a:t>#F4BFA0</a:t>
            </a:r>
            <a:endParaRPr lang="en-US" sz="1000" dirty="0"/>
          </a:p>
        </p:txBody>
      </p:sp>
      <p:sp>
        <p:nvSpPr>
          <p:cNvPr id="18" name="Shape 16"/>
          <p:cNvSpPr/>
          <p:nvPr/>
        </p:nvSpPr>
        <p:spPr>
          <a:xfrm>
            <a:off x="3474720" y="3017520"/>
            <a:ext cx="640080" cy="640080"/>
          </a:xfrm>
          <a:prstGeom prst="rect">
            <a:avLst/>
          </a:prstGeom>
          <a:solidFill>
            <a:srgbClr val="E8B84B"/>
          </a:solidFill>
          <a:ln w="6350">
            <a:solidFill>
              <a:srgbClr val="C8BFA8"/>
            </a:solidFill>
            <a:prstDash val="solid"/>
          </a:ln>
        </p:spPr>
      </p:sp>
      <p:sp>
        <p:nvSpPr>
          <p:cNvPr id="19" name="Text 17"/>
          <p:cNvSpPr/>
          <p:nvPr/>
        </p:nvSpPr>
        <p:spPr>
          <a:xfrm>
            <a:off x="4251960" y="3063240"/>
            <a:ext cx="1645920" cy="274320"/>
          </a:xfrm>
          <a:prstGeom prst="rect">
            <a:avLst/>
          </a:prstGeom>
          <a:noFill/>
          <a:ln/>
        </p:spPr>
        <p:txBody>
          <a:bodyPr wrap="square" lIns="0" tIns="0" rIns="0" bIns="0" rtlCol="0" anchor="ctr"/>
          <a:lstStyle/>
          <a:p>
            <a:pPr indent="0" marL="0">
              <a:buNone/>
            </a:pPr>
            <a:r>
              <a:rPr lang="en-US" sz="1200" b="1" dirty="0">
                <a:solidFill>
                  <a:srgbClr val="1A2D4A"/>
                </a:solidFill>
                <a:latin typeface="Calibri" pitchFamily="34" charset="0"/>
                <a:ea typeface="Calibri" pitchFamily="34" charset="-122"/>
                <a:cs typeface="Calibri" pitchFamily="34" charset="-120"/>
              </a:rPr>
              <a:t>Ochre Gold</a:t>
            </a:r>
            <a:endParaRPr lang="en-US" sz="1200" dirty="0"/>
          </a:p>
        </p:txBody>
      </p:sp>
      <p:sp>
        <p:nvSpPr>
          <p:cNvPr id="20" name="Text 18"/>
          <p:cNvSpPr/>
          <p:nvPr/>
        </p:nvSpPr>
        <p:spPr>
          <a:xfrm>
            <a:off x="4251960" y="3337560"/>
            <a:ext cx="1645920" cy="228600"/>
          </a:xfrm>
          <a:prstGeom prst="rect">
            <a:avLst/>
          </a:prstGeom>
          <a:noFill/>
          <a:ln/>
        </p:spPr>
        <p:txBody>
          <a:bodyPr wrap="square" lIns="0" tIns="0" rIns="0" bIns="0" rtlCol="0" anchor="ctr"/>
          <a:lstStyle/>
          <a:p>
            <a:pPr indent="0" marL="0">
              <a:buNone/>
            </a:pPr>
            <a:r>
              <a:rPr lang="en-US" sz="1000" dirty="0">
                <a:solidFill>
                  <a:srgbClr val="A89888"/>
                </a:solidFill>
                <a:latin typeface="Calibri" pitchFamily="34" charset="0"/>
                <a:ea typeface="Calibri" pitchFamily="34" charset="-122"/>
                <a:cs typeface="Calibri" pitchFamily="34" charset="-120"/>
              </a:rPr>
              <a:t>#E8B84B</a:t>
            </a:r>
            <a:endParaRPr lang="en-US" sz="1000" dirty="0"/>
          </a:p>
        </p:txBody>
      </p:sp>
      <p:sp>
        <p:nvSpPr>
          <p:cNvPr id="21" name="Shape 19"/>
          <p:cNvSpPr/>
          <p:nvPr/>
        </p:nvSpPr>
        <p:spPr>
          <a:xfrm>
            <a:off x="6217920" y="3017520"/>
            <a:ext cx="640080" cy="640080"/>
          </a:xfrm>
          <a:prstGeom prst="rect">
            <a:avLst/>
          </a:prstGeom>
          <a:solidFill>
            <a:srgbClr val="FBF5EC"/>
          </a:solidFill>
          <a:ln w="6350">
            <a:solidFill>
              <a:srgbClr val="C8BFA8"/>
            </a:solidFill>
            <a:prstDash val="solid"/>
          </a:ln>
        </p:spPr>
      </p:sp>
      <p:sp>
        <p:nvSpPr>
          <p:cNvPr id="22" name="Text 20"/>
          <p:cNvSpPr/>
          <p:nvPr/>
        </p:nvSpPr>
        <p:spPr>
          <a:xfrm>
            <a:off x="6995160" y="3063240"/>
            <a:ext cx="1645920" cy="274320"/>
          </a:xfrm>
          <a:prstGeom prst="rect">
            <a:avLst/>
          </a:prstGeom>
          <a:noFill/>
          <a:ln/>
        </p:spPr>
        <p:txBody>
          <a:bodyPr wrap="square" lIns="0" tIns="0" rIns="0" bIns="0" rtlCol="0" anchor="ctr"/>
          <a:lstStyle/>
          <a:p>
            <a:pPr indent="0" marL="0">
              <a:buNone/>
            </a:pPr>
            <a:r>
              <a:rPr lang="en-US" sz="1200" b="1" dirty="0">
                <a:solidFill>
                  <a:srgbClr val="1A2D4A"/>
                </a:solidFill>
                <a:latin typeface="Calibri" pitchFamily="34" charset="0"/>
                <a:ea typeface="Calibri" pitchFamily="34" charset="-122"/>
                <a:cs typeface="Calibri" pitchFamily="34" charset="-120"/>
              </a:rPr>
              <a:t>Cream</a:t>
            </a:r>
            <a:endParaRPr lang="en-US" sz="1200" dirty="0"/>
          </a:p>
        </p:txBody>
      </p:sp>
      <p:sp>
        <p:nvSpPr>
          <p:cNvPr id="23" name="Text 21"/>
          <p:cNvSpPr/>
          <p:nvPr/>
        </p:nvSpPr>
        <p:spPr>
          <a:xfrm>
            <a:off x="6995160" y="3337560"/>
            <a:ext cx="1645920" cy="228600"/>
          </a:xfrm>
          <a:prstGeom prst="rect">
            <a:avLst/>
          </a:prstGeom>
          <a:noFill/>
          <a:ln/>
        </p:spPr>
        <p:txBody>
          <a:bodyPr wrap="square" lIns="0" tIns="0" rIns="0" bIns="0" rtlCol="0" anchor="ctr"/>
          <a:lstStyle/>
          <a:p>
            <a:pPr indent="0" marL="0">
              <a:buNone/>
            </a:pPr>
            <a:r>
              <a:rPr lang="en-US" sz="1000" dirty="0">
                <a:solidFill>
                  <a:srgbClr val="A89888"/>
                </a:solidFill>
                <a:latin typeface="Calibri" pitchFamily="34" charset="0"/>
                <a:ea typeface="Calibri" pitchFamily="34" charset="-122"/>
                <a:cs typeface="Calibri" pitchFamily="34" charset="-120"/>
              </a:rPr>
              <a:t>#FBF5EC</a:t>
            </a:r>
            <a:endParaRPr lang="en-US" sz="1000" dirty="0"/>
          </a:p>
        </p:txBody>
      </p:sp>
      <p:sp>
        <p:nvSpPr>
          <p:cNvPr id="24" name="Shape 22"/>
          <p:cNvSpPr/>
          <p:nvPr/>
        </p:nvSpPr>
        <p:spPr>
          <a:xfrm>
            <a:off x="731520" y="4069080"/>
            <a:ext cx="640080" cy="640080"/>
          </a:xfrm>
          <a:prstGeom prst="rect">
            <a:avLst/>
          </a:prstGeom>
          <a:solidFill>
            <a:srgbClr val="6B7C4E"/>
          </a:solidFill>
          <a:ln w="6350">
            <a:solidFill>
              <a:srgbClr val="C8BFA8"/>
            </a:solidFill>
            <a:prstDash val="solid"/>
          </a:ln>
        </p:spPr>
      </p:sp>
      <p:sp>
        <p:nvSpPr>
          <p:cNvPr id="25" name="Text 23"/>
          <p:cNvSpPr/>
          <p:nvPr/>
        </p:nvSpPr>
        <p:spPr>
          <a:xfrm>
            <a:off x="1508760" y="4114800"/>
            <a:ext cx="1645920" cy="274320"/>
          </a:xfrm>
          <a:prstGeom prst="rect">
            <a:avLst/>
          </a:prstGeom>
          <a:noFill/>
          <a:ln/>
        </p:spPr>
        <p:txBody>
          <a:bodyPr wrap="square" lIns="0" tIns="0" rIns="0" bIns="0" rtlCol="0" anchor="ctr"/>
          <a:lstStyle/>
          <a:p>
            <a:pPr indent="0" marL="0">
              <a:buNone/>
            </a:pPr>
            <a:r>
              <a:rPr lang="en-US" sz="1200" b="1" dirty="0">
                <a:solidFill>
                  <a:srgbClr val="1A2D4A"/>
                </a:solidFill>
                <a:latin typeface="Calibri" pitchFamily="34" charset="0"/>
                <a:ea typeface="Calibri" pitchFamily="34" charset="-122"/>
                <a:cs typeface="Calibri" pitchFamily="34" charset="-120"/>
              </a:rPr>
              <a:t>Olive</a:t>
            </a:r>
            <a:endParaRPr lang="en-US" sz="1200" dirty="0"/>
          </a:p>
        </p:txBody>
      </p:sp>
      <p:sp>
        <p:nvSpPr>
          <p:cNvPr id="26" name="Text 24"/>
          <p:cNvSpPr/>
          <p:nvPr/>
        </p:nvSpPr>
        <p:spPr>
          <a:xfrm>
            <a:off x="1508760" y="4389120"/>
            <a:ext cx="1645920" cy="228600"/>
          </a:xfrm>
          <a:prstGeom prst="rect">
            <a:avLst/>
          </a:prstGeom>
          <a:noFill/>
          <a:ln/>
        </p:spPr>
        <p:txBody>
          <a:bodyPr wrap="square" lIns="0" tIns="0" rIns="0" bIns="0" rtlCol="0" anchor="ctr"/>
          <a:lstStyle/>
          <a:p>
            <a:pPr indent="0" marL="0">
              <a:buNone/>
            </a:pPr>
            <a:r>
              <a:rPr lang="en-US" sz="1000" dirty="0">
                <a:solidFill>
                  <a:srgbClr val="A89888"/>
                </a:solidFill>
                <a:latin typeface="Calibri" pitchFamily="34" charset="0"/>
                <a:ea typeface="Calibri" pitchFamily="34" charset="-122"/>
                <a:cs typeface="Calibri" pitchFamily="34" charset="-120"/>
              </a:rPr>
              <a:t>#6B7C4E</a:t>
            </a:r>
            <a:endParaRPr lang="en-US" sz="1000" dirty="0"/>
          </a:p>
        </p:txBody>
      </p:sp>
      <p:sp>
        <p:nvSpPr>
          <p:cNvPr id="27" name="Shape 25"/>
          <p:cNvSpPr/>
          <p:nvPr/>
        </p:nvSpPr>
        <p:spPr>
          <a:xfrm>
            <a:off x="3474720" y="4069080"/>
            <a:ext cx="640080" cy="640080"/>
          </a:xfrm>
          <a:prstGeom prst="rect">
            <a:avLst/>
          </a:prstGeom>
          <a:solidFill>
            <a:srgbClr val="2D2D2D"/>
          </a:solidFill>
          <a:ln w="6350">
            <a:solidFill>
              <a:srgbClr val="C8BFA8"/>
            </a:solidFill>
            <a:prstDash val="solid"/>
          </a:ln>
        </p:spPr>
      </p:sp>
      <p:sp>
        <p:nvSpPr>
          <p:cNvPr id="28" name="Text 26"/>
          <p:cNvSpPr/>
          <p:nvPr/>
        </p:nvSpPr>
        <p:spPr>
          <a:xfrm>
            <a:off x="4251960" y="4114800"/>
            <a:ext cx="1645920" cy="274320"/>
          </a:xfrm>
          <a:prstGeom prst="rect">
            <a:avLst/>
          </a:prstGeom>
          <a:noFill/>
          <a:ln/>
        </p:spPr>
        <p:txBody>
          <a:bodyPr wrap="square" lIns="0" tIns="0" rIns="0" bIns="0" rtlCol="0" anchor="ctr"/>
          <a:lstStyle/>
          <a:p>
            <a:pPr indent="0" marL="0">
              <a:buNone/>
            </a:pPr>
            <a:r>
              <a:rPr lang="en-US" sz="1200" b="1" dirty="0">
                <a:solidFill>
                  <a:srgbClr val="1A2D4A"/>
                </a:solidFill>
                <a:latin typeface="Calibri" pitchFamily="34" charset="0"/>
                <a:ea typeface="Calibri" pitchFamily="34" charset="-122"/>
                <a:cs typeface="Calibri" pitchFamily="34" charset="-120"/>
              </a:rPr>
              <a:t>Charcoal</a:t>
            </a:r>
            <a:endParaRPr lang="en-US" sz="1200" dirty="0"/>
          </a:p>
        </p:txBody>
      </p:sp>
      <p:sp>
        <p:nvSpPr>
          <p:cNvPr id="29" name="Text 27"/>
          <p:cNvSpPr/>
          <p:nvPr/>
        </p:nvSpPr>
        <p:spPr>
          <a:xfrm>
            <a:off x="4251960" y="4389120"/>
            <a:ext cx="1645920" cy="228600"/>
          </a:xfrm>
          <a:prstGeom prst="rect">
            <a:avLst/>
          </a:prstGeom>
          <a:noFill/>
          <a:ln/>
        </p:spPr>
        <p:txBody>
          <a:bodyPr wrap="square" lIns="0" tIns="0" rIns="0" bIns="0" rtlCol="0" anchor="ctr"/>
          <a:lstStyle/>
          <a:p>
            <a:pPr indent="0" marL="0">
              <a:buNone/>
            </a:pPr>
            <a:r>
              <a:rPr lang="en-US" sz="1000" dirty="0">
                <a:solidFill>
                  <a:srgbClr val="A89888"/>
                </a:solidFill>
                <a:latin typeface="Calibri" pitchFamily="34" charset="0"/>
                <a:ea typeface="Calibri" pitchFamily="34" charset="-122"/>
                <a:cs typeface="Calibri" pitchFamily="34" charset="-120"/>
              </a:rPr>
              <a:t>#2D2D2D</a:t>
            </a:r>
            <a:endParaRPr lang="en-US" sz="1000" dirty="0"/>
          </a:p>
        </p:txBody>
      </p:sp>
      <p:sp>
        <p:nvSpPr>
          <p:cNvPr id="30" name="Shape 28"/>
          <p:cNvSpPr/>
          <p:nvPr/>
        </p:nvSpPr>
        <p:spPr>
          <a:xfrm>
            <a:off x="6217920" y="4069080"/>
            <a:ext cx="640080" cy="640080"/>
          </a:xfrm>
          <a:prstGeom prst="rect">
            <a:avLst/>
          </a:prstGeom>
          <a:solidFill>
            <a:srgbClr val="A89888"/>
          </a:solidFill>
          <a:ln w="6350">
            <a:solidFill>
              <a:srgbClr val="C8BFA8"/>
            </a:solidFill>
            <a:prstDash val="solid"/>
          </a:ln>
        </p:spPr>
      </p:sp>
      <p:sp>
        <p:nvSpPr>
          <p:cNvPr id="31" name="Text 29"/>
          <p:cNvSpPr/>
          <p:nvPr/>
        </p:nvSpPr>
        <p:spPr>
          <a:xfrm>
            <a:off x="6995160" y="4114800"/>
            <a:ext cx="1645920" cy="274320"/>
          </a:xfrm>
          <a:prstGeom prst="rect">
            <a:avLst/>
          </a:prstGeom>
          <a:noFill/>
          <a:ln/>
        </p:spPr>
        <p:txBody>
          <a:bodyPr wrap="square" lIns="0" tIns="0" rIns="0" bIns="0" rtlCol="0" anchor="ctr"/>
          <a:lstStyle/>
          <a:p>
            <a:pPr indent="0" marL="0">
              <a:buNone/>
            </a:pPr>
            <a:r>
              <a:rPr lang="en-US" sz="1200" b="1" dirty="0">
                <a:solidFill>
                  <a:srgbClr val="1A2D4A"/>
                </a:solidFill>
                <a:latin typeface="Calibri" pitchFamily="34" charset="0"/>
                <a:ea typeface="Calibri" pitchFamily="34" charset="-122"/>
                <a:cs typeface="Calibri" pitchFamily="34" charset="-120"/>
              </a:rPr>
              <a:t>Warm Gray</a:t>
            </a:r>
            <a:endParaRPr lang="en-US" sz="1200" dirty="0"/>
          </a:p>
        </p:txBody>
      </p:sp>
      <p:sp>
        <p:nvSpPr>
          <p:cNvPr id="32" name="Text 30"/>
          <p:cNvSpPr/>
          <p:nvPr/>
        </p:nvSpPr>
        <p:spPr>
          <a:xfrm>
            <a:off x="6995160" y="4389120"/>
            <a:ext cx="1645920" cy="228600"/>
          </a:xfrm>
          <a:prstGeom prst="rect">
            <a:avLst/>
          </a:prstGeom>
          <a:noFill/>
          <a:ln/>
        </p:spPr>
        <p:txBody>
          <a:bodyPr wrap="square" lIns="0" tIns="0" rIns="0" bIns="0" rtlCol="0" anchor="ctr"/>
          <a:lstStyle/>
          <a:p>
            <a:pPr indent="0" marL="0">
              <a:buNone/>
            </a:pPr>
            <a:r>
              <a:rPr lang="en-US" sz="1000" dirty="0">
                <a:solidFill>
                  <a:srgbClr val="A89888"/>
                </a:solidFill>
                <a:latin typeface="Calibri" pitchFamily="34" charset="0"/>
                <a:ea typeface="Calibri" pitchFamily="34" charset="-122"/>
                <a:cs typeface="Calibri" pitchFamily="34" charset="-120"/>
              </a:rPr>
              <a:t>#A89888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5EC"/>
        </a:solidFill>
      </p:bgPr>
    </p:bg>
    <p:spTree>
      <p:nvGrpSpPr>
        <p:cNvPr id="1" name=""/>
        <p:cNvGrpSpPr/>
        <p:nvPr/>
      </p:nvGrpSpPr>
      <p:grpSpPr>
        <a:xfrm>
          <a:off x="0" y="0"/>
          <a:ext cx="0" cy="0"/>
          <a:chOff x="0" y="0"/>
          <a:chExt cx="0" cy="0"/>
        </a:xfrm>
      </p:grpSpPr>
      <p:sp>
        <p:nvSpPr>
          <p:cNvPr id="2" name="Text 0"/>
          <p:cNvSpPr/>
          <p:nvPr/>
        </p:nvSpPr>
        <p:spPr>
          <a:xfrm>
            <a:off x="457200" y="4709160"/>
            <a:ext cx="3657600" cy="320040"/>
          </a:xfrm>
          <a:prstGeom prst="rect">
            <a:avLst/>
          </a:prstGeom>
          <a:noFill/>
          <a:ln/>
        </p:spPr>
        <p:txBody>
          <a:bodyPr wrap="square" lIns="0" tIns="0" rIns="0" bIns="0" rtlCol="0" anchor="ctr"/>
          <a:lstStyle/>
          <a:p>
            <a:pPr indent="0" marL="0">
              <a:buNone/>
            </a:pPr>
            <a:r>
              <a:rPr lang="en-US" sz="800" dirty="0">
                <a:solidFill>
                  <a:srgbClr val="A89888"/>
                </a:solidFill>
                <a:latin typeface="Calibri" pitchFamily="34" charset="0"/>
                <a:ea typeface="Calibri" pitchFamily="34" charset="-122"/>
                <a:cs typeface="Calibri" pitchFamily="34" charset="-120"/>
              </a:rPr>
              <a:t>CONFIDENTIAL  ·  TERRAZZO</a:t>
            </a:r>
            <a:endParaRPr lang="en-US" sz="800" dirty="0"/>
          </a:p>
        </p:txBody>
      </p:sp>
      <p:sp>
        <p:nvSpPr>
          <p:cNvPr id="3" name="Text 1"/>
          <p:cNvSpPr/>
          <p:nvPr/>
        </p:nvSpPr>
        <p:spPr>
          <a:xfrm>
            <a:off x="731520" y="365760"/>
            <a:ext cx="7315200" cy="594360"/>
          </a:xfrm>
          <a:prstGeom prst="rect">
            <a:avLst/>
          </a:prstGeom>
          <a:noFill/>
          <a:ln/>
        </p:spPr>
        <p:txBody>
          <a:bodyPr wrap="square" lIns="0" tIns="0" rIns="0" bIns="0" rtlCol="0" anchor="ctr"/>
          <a:lstStyle/>
          <a:p>
            <a:pPr indent="0" marL="0">
              <a:buNone/>
            </a:pPr>
            <a:r>
              <a:rPr lang="en-US" sz="3200" b="1" dirty="0">
                <a:solidFill>
                  <a:srgbClr val="1A2D4A"/>
                </a:solidFill>
                <a:latin typeface="Georgia" pitchFamily="34" charset="0"/>
                <a:ea typeface="Georgia" pitchFamily="34" charset="-122"/>
                <a:cs typeface="Georgia" pitchFamily="34" charset="-120"/>
              </a:rPr>
              <a:t>Color in Context</a:t>
            </a:r>
            <a:endParaRPr lang="en-US" sz="3200" dirty="0"/>
          </a:p>
        </p:txBody>
      </p:sp>
      <p:sp>
        <p:nvSpPr>
          <p:cNvPr id="4" name="Shape 2"/>
          <p:cNvSpPr/>
          <p:nvPr/>
        </p:nvSpPr>
        <p:spPr>
          <a:xfrm>
            <a:off x="731520" y="1051560"/>
            <a:ext cx="7680960" cy="0"/>
          </a:xfrm>
          <a:prstGeom prst="line">
            <a:avLst/>
          </a:prstGeom>
          <a:noFill/>
          <a:ln w="19050">
            <a:solidFill>
              <a:srgbClr val="E86F5A"/>
            </a:solidFill>
            <a:prstDash val="solid"/>
          </a:ln>
        </p:spPr>
      </p:sp>
      <p:sp>
        <p:nvSpPr>
          <p:cNvPr id="5" name="Text 3"/>
          <p:cNvSpPr/>
          <p:nvPr/>
        </p:nvSpPr>
        <p:spPr>
          <a:xfrm>
            <a:off x="731520" y="128016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Usage Rules</a:t>
            </a:r>
            <a:endParaRPr lang="en-US" sz="1600" dirty="0"/>
          </a:p>
        </p:txBody>
      </p:sp>
      <p:sp>
        <p:nvSpPr>
          <p:cNvPr id="6" name="Text 4"/>
          <p:cNvSpPr/>
          <p:nvPr/>
        </p:nvSpPr>
        <p:spPr>
          <a:xfrm>
            <a:off x="731520" y="1691640"/>
            <a:ext cx="7680960" cy="411480"/>
          </a:xfrm>
          <a:prstGeom prst="rect">
            <a:avLst/>
          </a:prstGeom>
          <a:noFill/>
          <a:ln/>
        </p:spPr>
        <p:txBody>
          <a:bodyPr wrap="square" lIns="0" tIns="0" rIns="0" bIns="0" rtlCol="0" anchor="ctr"/>
          <a:lstStyle/>
          <a:p>
            <a:pPr indent="0" marL="0">
              <a:lnSpc>
                <a:spcPct val="125000"/>
              </a:lnSpc>
              <a:buNone/>
            </a:pPr>
            <a:r>
              <a:rPr lang="en-US" sz="1200" b="1" dirty="0">
                <a:solidFill>
                  <a:srgbClr val="1A2D4A"/>
                </a:solidFill>
                <a:latin typeface="Calibri" pitchFamily="34" charset="0"/>
                <a:ea typeface="Calibri" pitchFamily="34" charset="-122"/>
                <a:cs typeface="Calibri" pitchFamily="34" charset="-120"/>
              </a:rPr>
              <a:t>Cream is canvas, not filler.</a:t>
            </a:r>
            <a:pPr indent="0" marL="0">
              <a:lnSpc>
                <a:spcPct val="125000"/>
              </a:lnSpc>
              <a:buNone/>
            </a:pPr>
            <a:r>
              <a:rPr lang="en-US" sz="1200" dirty="0">
                <a:solidFill>
                  <a:srgbClr val="2D2D2D"/>
                </a:solidFill>
                <a:latin typeface="Calibri" pitchFamily="34" charset="0"/>
                <a:ea typeface="Calibri" pitchFamily="34" charset="-122"/>
                <a:cs typeface="Calibri" pitchFamily="34" charset="-120"/>
              </a:rPr>
              <a:t> Use cream generously as negative space, but never let it dominate a composition.</a:t>
            </a:r>
            <a:endParaRPr lang="en-US" sz="1200" dirty="0"/>
          </a:p>
        </p:txBody>
      </p:sp>
      <p:sp>
        <p:nvSpPr>
          <p:cNvPr id="7" name="Text 5"/>
          <p:cNvSpPr/>
          <p:nvPr/>
        </p:nvSpPr>
        <p:spPr>
          <a:xfrm>
            <a:off x="731520" y="2148840"/>
            <a:ext cx="7680960" cy="411480"/>
          </a:xfrm>
          <a:prstGeom prst="rect">
            <a:avLst/>
          </a:prstGeom>
          <a:noFill/>
          <a:ln/>
        </p:spPr>
        <p:txBody>
          <a:bodyPr wrap="square" lIns="0" tIns="0" rIns="0" bIns="0" rtlCol="0" anchor="ctr"/>
          <a:lstStyle/>
          <a:p>
            <a:pPr indent="0" marL="0">
              <a:lnSpc>
                <a:spcPct val="125000"/>
              </a:lnSpc>
              <a:buNone/>
            </a:pPr>
            <a:r>
              <a:rPr lang="en-US" sz="1200" b="1" dirty="0">
                <a:solidFill>
                  <a:srgbClr val="1A2D4A"/>
                </a:solidFill>
                <a:latin typeface="Calibri" pitchFamily="34" charset="0"/>
                <a:ea typeface="Calibri" pitchFamily="34" charset="-122"/>
                <a:cs typeface="Calibri" pitchFamily="34" charset="-120"/>
              </a:rPr>
              <a:t>High contrast pairings:</a:t>
            </a:r>
            <a:pPr indent="0" marL="0">
              <a:lnSpc>
                <a:spcPct val="125000"/>
              </a:lnSpc>
              <a:buNone/>
            </a:pPr>
            <a:r>
              <a:rPr lang="en-US" sz="1200" dirty="0">
                <a:solidFill>
                  <a:srgbClr val="2D2D2D"/>
                </a:solidFill>
                <a:latin typeface="Calibri" pitchFamily="34" charset="0"/>
                <a:ea typeface="Calibri" pitchFamily="34" charset="-122"/>
                <a:cs typeface="Calibri" pitchFamily="34" charset="-120"/>
              </a:rPr>
              <a:t> Coral on navy, cream on coral, navy on cream. Avoid low-contrast combinations like peach on cream.</a:t>
            </a:r>
            <a:endParaRPr lang="en-US" sz="1200" dirty="0"/>
          </a:p>
        </p:txBody>
      </p:sp>
      <p:sp>
        <p:nvSpPr>
          <p:cNvPr id="8" name="Text 6"/>
          <p:cNvSpPr/>
          <p:nvPr/>
        </p:nvSpPr>
        <p:spPr>
          <a:xfrm>
            <a:off x="731520" y="2606040"/>
            <a:ext cx="7680960" cy="411480"/>
          </a:xfrm>
          <a:prstGeom prst="rect">
            <a:avLst/>
          </a:prstGeom>
          <a:noFill/>
          <a:ln/>
        </p:spPr>
        <p:txBody>
          <a:bodyPr wrap="square" lIns="0" tIns="0" rIns="0" bIns="0" rtlCol="0" anchor="ctr"/>
          <a:lstStyle/>
          <a:p>
            <a:pPr indent="0" marL="0">
              <a:lnSpc>
                <a:spcPct val="125000"/>
              </a:lnSpc>
              <a:buNone/>
            </a:pPr>
            <a:r>
              <a:rPr lang="en-US" sz="1200" b="1" dirty="0">
                <a:solidFill>
                  <a:srgbClr val="1A2D4A"/>
                </a:solidFill>
                <a:latin typeface="Calibri" pitchFamily="34" charset="0"/>
                <a:ea typeface="Calibri" pitchFamily="34" charset="-122"/>
                <a:cs typeface="Calibri" pitchFamily="34" charset="-120"/>
              </a:rPr>
              <a:t>Bold, flat fields:</a:t>
            </a:r>
            <a:pPr indent="0" marL="0">
              <a:lnSpc>
                <a:spcPct val="125000"/>
              </a:lnSpc>
              <a:buNone/>
            </a:pPr>
            <a:r>
              <a:rPr lang="en-US" sz="1200" dirty="0">
                <a:solidFill>
                  <a:srgbClr val="2D2D2D"/>
                </a:solidFill>
                <a:latin typeface="Calibri" pitchFamily="34" charset="0"/>
                <a:ea typeface="Calibri" pitchFamily="34" charset="-122"/>
                <a:cs typeface="Calibri" pitchFamily="34" charset="-120"/>
              </a:rPr>
              <a:t> Colors are used as large confident blocks — never as thin accents, gradients, or subtle tints.</a:t>
            </a:r>
            <a:endParaRPr lang="en-US" sz="1200" dirty="0"/>
          </a:p>
        </p:txBody>
      </p:sp>
      <p:sp>
        <p:nvSpPr>
          <p:cNvPr id="9" name="Shape 7"/>
          <p:cNvSpPr/>
          <p:nvPr/>
        </p:nvSpPr>
        <p:spPr>
          <a:xfrm>
            <a:off x="731520" y="3291840"/>
            <a:ext cx="1828800" cy="1280160"/>
          </a:xfrm>
          <a:prstGeom prst="rect">
            <a:avLst/>
          </a:prstGeom>
          <a:solidFill>
            <a:srgbClr val="1A2D4A"/>
          </a:solidFill>
          <a:ln/>
        </p:spPr>
      </p:sp>
      <p:sp>
        <p:nvSpPr>
          <p:cNvPr id="10" name="Text 8"/>
          <p:cNvSpPr/>
          <p:nvPr/>
        </p:nvSpPr>
        <p:spPr>
          <a:xfrm>
            <a:off x="731520" y="3383280"/>
            <a:ext cx="1828800" cy="731520"/>
          </a:xfrm>
          <a:prstGeom prst="rect">
            <a:avLst/>
          </a:prstGeom>
          <a:noFill/>
          <a:ln/>
        </p:spPr>
        <p:txBody>
          <a:bodyPr wrap="square" lIns="0" tIns="0" rIns="0" bIns="0" rtlCol="0" anchor="ctr"/>
          <a:lstStyle/>
          <a:p>
            <a:pPr algn="ctr" indent="0" marL="0">
              <a:buNone/>
            </a:pPr>
            <a:r>
              <a:rPr lang="en-US" sz="3600" b="1" dirty="0">
                <a:solidFill>
                  <a:srgbClr val="E86F5A"/>
                </a:solidFill>
                <a:latin typeface="Georgia" pitchFamily="34" charset="0"/>
                <a:ea typeface="Georgia" pitchFamily="34" charset="-122"/>
                <a:cs typeface="Georgia" pitchFamily="34" charset="-120"/>
              </a:rPr>
              <a:t>Aa</a:t>
            </a:r>
            <a:endParaRPr lang="en-US" sz="3600" dirty="0"/>
          </a:p>
        </p:txBody>
      </p:sp>
      <p:sp>
        <p:nvSpPr>
          <p:cNvPr id="11" name="Text 9"/>
          <p:cNvSpPr/>
          <p:nvPr/>
        </p:nvSpPr>
        <p:spPr>
          <a:xfrm>
            <a:off x="731520" y="4160520"/>
            <a:ext cx="1828800" cy="320040"/>
          </a:xfrm>
          <a:prstGeom prst="rect">
            <a:avLst/>
          </a:prstGeom>
          <a:noFill/>
          <a:ln/>
        </p:spPr>
        <p:txBody>
          <a:bodyPr wrap="square" lIns="0" tIns="0" rIns="0" bIns="0" rtlCol="0" anchor="ctr"/>
          <a:lstStyle/>
          <a:p>
            <a:pPr algn="ctr" indent="0" marL="0">
              <a:buNone/>
            </a:pPr>
            <a:r>
              <a:rPr lang="en-US" sz="900" dirty="0">
                <a:solidFill>
                  <a:srgbClr val="E86F5A"/>
                </a:solidFill>
                <a:latin typeface="Calibri" pitchFamily="34" charset="0"/>
                <a:ea typeface="Calibri" pitchFamily="34" charset="-122"/>
                <a:cs typeface="Calibri" pitchFamily="34" charset="-120"/>
              </a:rPr>
              <a:t>Coral on Navy</a:t>
            </a:r>
            <a:endParaRPr lang="en-US" sz="900" dirty="0"/>
          </a:p>
        </p:txBody>
      </p:sp>
      <p:sp>
        <p:nvSpPr>
          <p:cNvPr id="12" name="Shape 10"/>
          <p:cNvSpPr/>
          <p:nvPr/>
        </p:nvSpPr>
        <p:spPr>
          <a:xfrm>
            <a:off x="2743200" y="3291840"/>
            <a:ext cx="1828800" cy="1280160"/>
          </a:xfrm>
          <a:prstGeom prst="rect">
            <a:avLst/>
          </a:prstGeom>
          <a:solidFill>
            <a:srgbClr val="E86F5A"/>
          </a:solidFill>
          <a:ln/>
        </p:spPr>
      </p:sp>
      <p:sp>
        <p:nvSpPr>
          <p:cNvPr id="13" name="Text 11"/>
          <p:cNvSpPr/>
          <p:nvPr/>
        </p:nvSpPr>
        <p:spPr>
          <a:xfrm>
            <a:off x="2743200" y="3383280"/>
            <a:ext cx="1828800" cy="731520"/>
          </a:xfrm>
          <a:prstGeom prst="rect">
            <a:avLst/>
          </a:prstGeom>
          <a:noFill/>
          <a:ln/>
        </p:spPr>
        <p:txBody>
          <a:bodyPr wrap="square" lIns="0" tIns="0" rIns="0" bIns="0" rtlCol="0" anchor="ctr"/>
          <a:lstStyle/>
          <a:p>
            <a:pPr algn="ctr" indent="0" marL="0">
              <a:buNone/>
            </a:pPr>
            <a:r>
              <a:rPr lang="en-US" sz="3600" b="1" dirty="0">
                <a:solidFill>
                  <a:srgbClr val="FBF5EC"/>
                </a:solidFill>
                <a:latin typeface="Georgia" pitchFamily="34" charset="0"/>
                <a:ea typeface="Georgia" pitchFamily="34" charset="-122"/>
                <a:cs typeface="Georgia" pitchFamily="34" charset="-120"/>
              </a:rPr>
              <a:t>Aa</a:t>
            </a:r>
            <a:endParaRPr lang="en-US" sz="3600" dirty="0"/>
          </a:p>
        </p:txBody>
      </p:sp>
      <p:sp>
        <p:nvSpPr>
          <p:cNvPr id="14" name="Text 12"/>
          <p:cNvSpPr/>
          <p:nvPr/>
        </p:nvSpPr>
        <p:spPr>
          <a:xfrm>
            <a:off x="2743200" y="4160520"/>
            <a:ext cx="1828800" cy="320040"/>
          </a:xfrm>
          <a:prstGeom prst="rect">
            <a:avLst/>
          </a:prstGeom>
          <a:noFill/>
          <a:ln/>
        </p:spPr>
        <p:txBody>
          <a:bodyPr wrap="square" lIns="0" tIns="0" rIns="0" bIns="0" rtlCol="0" anchor="ctr"/>
          <a:lstStyle/>
          <a:p>
            <a:pPr algn="ctr" indent="0" marL="0">
              <a:buNone/>
            </a:pPr>
            <a:r>
              <a:rPr lang="en-US" sz="900" dirty="0">
                <a:solidFill>
                  <a:srgbClr val="FBF5EC"/>
                </a:solidFill>
                <a:latin typeface="Calibri" pitchFamily="34" charset="0"/>
                <a:ea typeface="Calibri" pitchFamily="34" charset="-122"/>
                <a:cs typeface="Calibri" pitchFamily="34" charset="-120"/>
              </a:rPr>
              <a:t>Cream on Coral</a:t>
            </a:r>
            <a:endParaRPr lang="en-US" sz="900" dirty="0"/>
          </a:p>
        </p:txBody>
      </p:sp>
      <p:sp>
        <p:nvSpPr>
          <p:cNvPr id="15" name="Shape 13"/>
          <p:cNvSpPr/>
          <p:nvPr/>
        </p:nvSpPr>
        <p:spPr>
          <a:xfrm>
            <a:off x="4754880" y="3291840"/>
            <a:ext cx="1828800" cy="1280160"/>
          </a:xfrm>
          <a:prstGeom prst="rect">
            <a:avLst/>
          </a:prstGeom>
          <a:solidFill>
            <a:srgbClr val="FBF5EC"/>
          </a:solidFill>
          <a:ln/>
        </p:spPr>
      </p:sp>
      <p:sp>
        <p:nvSpPr>
          <p:cNvPr id="16" name="Text 14"/>
          <p:cNvSpPr/>
          <p:nvPr/>
        </p:nvSpPr>
        <p:spPr>
          <a:xfrm>
            <a:off x="4754880" y="3383280"/>
            <a:ext cx="1828800" cy="731520"/>
          </a:xfrm>
          <a:prstGeom prst="rect">
            <a:avLst/>
          </a:prstGeom>
          <a:noFill/>
          <a:ln/>
        </p:spPr>
        <p:txBody>
          <a:bodyPr wrap="square" lIns="0" tIns="0" rIns="0" bIns="0" rtlCol="0" anchor="ctr"/>
          <a:lstStyle/>
          <a:p>
            <a:pPr algn="ctr" indent="0" marL="0">
              <a:buNone/>
            </a:pPr>
            <a:r>
              <a:rPr lang="en-US" sz="3600" b="1" dirty="0">
                <a:solidFill>
                  <a:srgbClr val="1A2D4A"/>
                </a:solidFill>
                <a:latin typeface="Georgia" pitchFamily="34" charset="0"/>
                <a:ea typeface="Georgia" pitchFamily="34" charset="-122"/>
                <a:cs typeface="Georgia" pitchFamily="34" charset="-120"/>
              </a:rPr>
              <a:t>Aa</a:t>
            </a:r>
            <a:endParaRPr lang="en-US" sz="3600" dirty="0"/>
          </a:p>
        </p:txBody>
      </p:sp>
      <p:sp>
        <p:nvSpPr>
          <p:cNvPr id="17" name="Text 15"/>
          <p:cNvSpPr/>
          <p:nvPr/>
        </p:nvSpPr>
        <p:spPr>
          <a:xfrm>
            <a:off x="4754880" y="4160520"/>
            <a:ext cx="1828800" cy="320040"/>
          </a:xfrm>
          <a:prstGeom prst="rect">
            <a:avLst/>
          </a:prstGeom>
          <a:noFill/>
          <a:ln/>
        </p:spPr>
        <p:txBody>
          <a:bodyPr wrap="square" lIns="0" tIns="0" rIns="0" bIns="0" rtlCol="0" anchor="ctr"/>
          <a:lstStyle/>
          <a:p>
            <a:pPr algn="ctr" indent="0" marL="0">
              <a:buNone/>
            </a:pPr>
            <a:r>
              <a:rPr lang="en-US" sz="900" dirty="0">
                <a:solidFill>
                  <a:srgbClr val="1A2D4A"/>
                </a:solidFill>
                <a:latin typeface="Calibri" pitchFamily="34" charset="0"/>
                <a:ea typeface="Calibri" pitchFamily="34" charset="-122"/>
                <a:cs typeface="Calibri" pitchFamily="34" charset="-120"/>
              </a:rPr>
              <a:t>Navy on Cream</a:t>
            </a:r>
            <a:endParaRPr lang="en-US" sz="900" dirty="0"/>
          </a:p>
        </p:txBody>
      </p:sp>
      <p:sp>
        <p:nvSpPr>
          <p:cNvPr id="18" name="Shape 16"/>
          <p:cNvSpPr/>
          <p:nvPr/>
        </p:nvSpPr>
        <p:spPr>
          <a:xfrm>
            <a:off x="6766560" y="3291840"/>
            <a:ext cx="1828800" cy="1280160"/>
          </a:xfrm>
          <a:prstGeom prst="rect">
            <a:avLst/>
          </a:prstGeom>
          <a:solidFill>
            <a:srgbClr val="5EC4B2"/>
          </a:solidFill>
          <a:ln/>
        </p:spPr>
      </p:sp>
      <p:sp>
        <p:nvSpPr>
          <p:cNvPr id="19" name="Text 17"/>
          <p:cNvSpPr/>
          <p:nvPr/>
        </p:nvSpPr>
        <p:spPr>
          <a:xfrm>
            <a:off x="6766560" y="3383280"/>
            <a:ext cx="1828800" cy="731520"/>
          </a:xfrm>
          <a:prstGeom prst="rect">
            <a:avLst/>
          </a:prstGeom>
          <a:noFill/>
          <a:ln/>
        </p:spPr>
        <p:txBody>
          <a:bodyPr wrap="square" lIns="0" tIns="0" rIns="0" bIns="0" rtlCol="0" anchor="ctr"/>
          <a:lstStyle/>
          <a:p>
            <a:pPr algn="ctr" indent="0" marL="0">
              <a:buNone/>
            </a:pPr>
            <a:r>
              <a:rPr lang="en-US" sz="3600" b="1" dirty="0">
                <a:solidFill>
                  <a:srgbClr val="1A2D4A"/>
                </a:solidFill>
                <a:latin typeface="Georgia" pitchFamily="34" charset="0"/>
                <a:ea typeface="Georgia" pitchFamily="34" charset="-122"/>
                <a:cs typeface="Georgia" pitchFamily="34" charset="-120"/>
              </a:rPr>
              <a:t>Aa</a:t>
            </a:r>
            <a:endParaRPr lang="en-US" sz="3600" dirty="0"/>
          </a:p>
        </p:txBody>
      </p:sp>
      <p:sp>
        <p:nvSpPr>
          <p:cNvPr id="20" name="Text 18"/>
          <p:cNvSpPr/>
          <p:nvPr/>
        </p:nvSpPr>
        <p:spPr>
          <a:xfrm>
            <a:off x="6766560" y="4160520"/>
            <a:ext cx="1828800" cy="320040"/>
          </a:xfrm>
          <a:prstGeom prst="rect">
            <a:avLst/>
          </a:prstGeom>
          <a:noFill/>
          <a:ln/>
        </p:spPr>
        <p:txBody>
          <a:bodyPr wrap="square" lIns="0" tIns="0" rIns="0" bIns="0" rtlCol="0" anchor="ctr"/>
          <a:lstStyle/>
          <a:p>
            <a:pPr algn="ctr" indent="0" marL="0">
              <a:buNone/>
            </a:pPr>
            <a:r>
              <a:rPr lang="en-US" sz="900" dirty="0">
                <a:solidFill>
                  <a:srgbClr val="1A2D4A"/>
                </a:solidFill>
                <a:latin typeface="Calibri" pitchFamily="34" charset="0"/>
                <a:ea typeface="Calibri" pitchFamily="34" charset="-122"/>
                <a:cs typeface="Calibri" pitchFamily="34" charset="-120"/>
              </a:rPr>
              <a:t>Navy on Teal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2D4A"/>
        </a:solidFill>
      </p:bgPr>
    </p:bg>
    <p:spTree>
      <p:nvGrpSpPr>
        <p:cNvPr id="1" name=""/>
        <p:cNvGrpSpPr/>
        <p:nvPr/>
      </p:nvGrpSpPr>
      <p:grpSpPr>
        <a:xfrm>
          <a:off x="0" y="0"/>
          <a:ext cx="0" cy="0"/>
          <a:chOff x="0" y="0"/>
          <a:chExt cx="0" cy="0"/>
        </a:xfrm>
      </p:grpSpPr>
      <p:sp>
        <p:nvSpPr>
          <p:cNvPr id="2" name="Shape 0"/>
          <p:cNvSpPr/>
          <p:nvPr/>
        </p:nvSpPr>
        <p:spPr>
          <a:xfrm>
            <a:off x="5943600" y="1828800"/>
            <a:ext cx="4572000" cy="4572000"/>
          </a:xfrm>
          <a:prstGeom prst="ellipse">
            <a:avLst/>
          </a:prstGeom>
          <a:solidFill>
            <a:srgbClr val="E86F5A">
              <a:alpha val="80000"/>
            </a:srgbClr>
          </a:solidFill>
          <a:ln/>
        </p:spPr>
      </p:sp>
      <p:sp>
        <p:nvSpPr>
          <p:cNvPr id="3" name="Shape 1"/>
          <p:cNvSpPr/>
          <p:nvPr/>
        </p:nvSpPr>
        <p:spPr>
          <a:xfrm>
            <a:off x="6858000" y="-1371600"/>
            <a:ext cx="2743200" cy="2743200"/>
          </a:xfrm>
          <a:prstGeom prst="ellipse">
            <a:avLst/>
          </a:prstGeom>
          <a:solidFill>
            <a:srgbClr val="5EC4B2">
              <a:alpha val="70000"/>
            </a:srgbClr>
          </a:solidFill>
          <a:ln/>
        </p:spPr>
      </p:sp>
      <p:sp>
        <p:nvSpPr>
          <p:cNvPr id="4" name="Text 2"/>
          <p:cNvSpPr/>
          <p:nvPr/>
        </p:nvSpPr>
        <p:spPr>
          <a:xfrm>
            <a:off x="731520" y="1645920"/>
            <a:ext cx="5486400" cy="137160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Typography</a:t>
            </a:r>
            <a:endParaRPr lang="en-US" sz="4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5EC"/>
        </a:solidFill>
      </p:bgPr>
    </p:bg>
    <p:spTree>
      <p:nvGrpSpPr>
        <p:cNvPr id="1" name=""/>
        <p:cNvGrpSpPr/>
        <p:nvPr/>
      </p:nvGrpSpPr>
      <p:grpSpPr>
        <a:xfrm>
          <a:off x="0" y="0"/>
          <a:ext cx="0" cy="0"/>
          <a:chOff x="0" y="0"/>
          <a:chExt cx="0" cy="0"/>
        </a:xfrm>
      </p:grpSpPr>
      <p:sp>
        <p:nvSpPr>
          <p:cNvPr id="2" name="Text 0"/>
          <p:cNvSpPr/>
          <p:nvPr/>
        </p:nvSpPr>
        <p:spPr>
          <a:xfrm>
            <a:off x="457200" y="4709160"/>
            <a:ext cx="3657600" cy="320040"/>
          </a:xfrm>
          <a:prstGeom prst="rect">
            <a:avLst/>
          </a:prstGeom>
          <a:noFill/>
          <a:ln/>
        </p:spPr>
        <p:txBody>
          <a:bodyPr wrap="square" lIns="0" tIns="0" rIns="0" bIns="0" rtlCol="0" anchor="ctr"/>
          <a:lstStyle/>
          <a:p>
            <a:pPr indent="0" marL="0">
              <a:buNone/>
            </a:pPr>
            <a:r>
              <a:rPr lang="en-US" sz="800" dirty="0">
                <a:solidFill>
                  <a:srgbClr val="A89888"/>
                </a:solidFill>
                <a:latin typeface="Calibri" pitchFamily="34" charset="0"/>
                <a:ea typeface="Calibri" pitchFamily="34" charset="-122"/>
                <a:cs typeface="Calibri" pitchFamily="34" charset="-120"/>
              </a:rPr>
              <a:t>CONFIDENTIAL  ·  TERRAZZO</a:t>
            </a:r>
            <a:endParaRPr lang="en-US" sz="800" dirty="0"/>
          </a:p>
        </p:txBody>
      </p:sp>
      <p:sp>
        <p:nvSpPr>
          <p:cNvPr id="3" name="Text 1"/>
          <p:cNvSpPr/>
          <p:nvPr/>
        </p:nvSpPr>
        <p:spPr>
          <a:xfrm>
            <a:off x="731520" y="365760"/>
            <a:ext cx="7315200" cy="594360"/>
          </a:xfrm>
          <a:prstGeom prst="rect">
            <a:avLst/>
          </a:prstGeom>
          <a:noFill/>
          <a:ln/>
        </p:spPr>
        <p:txBody>
          <a:bodyPr wrap="square" lIns="0" tIns="0" rIns="0" bIns="0" rtlCol="0" anchor="ctr"/>
          <a:lstStyle/>
          <a:p>
            <a:pPr indent="0" marL="0">
              <a:buNone/>
            </a:pPr>
            <a:r>
              <a:rPr lang="en-US" sz="3200" b="1" dirty="0">
                <a:solidFill>
                  <a:srgbClr val="1A2D4A"/>
                </a:solidFill>
                <a:latin typeface="Georgia" pitchFamily="34" charset="0"/>
                <a:ea typeface="Georgia" pitchFamily="34" charset="-122"/>
                <a:cs typeface="Georgia" pitchFamily="34" charset="-120"/>
              </a:rPr>
              <a:t>Type System</a:t>
            </a:r>
            <a:endParaRPr lang="en-US" sz="3200" dirty="0"/>
          </a:p>
        </p:txBody>
      </p:sp>
      <p:sp>
        <p:nvSpPr>
          <p:cNvPr id="4" name="Shape 2"/>
          <p:cNvSpPr/>
          <p:nvPr/>
        </p:nvSpPr>
        <p:spPr>
          <a:xfrm>
            <a:off x="731520" y="1051560"/>
            <a:ext cx="7680960" cy="0"/>
          </a:xfrm>
          <a:prstGeom prst="line">
            <a:avLst/>
          </a:prstGeom>
          <a:noFill/>
          <a:ln w="19050">
            <a:solidFill>
              <a:srgbClr val="E86F5A"/>
            </a:solidFill>
            <a:prstDash val="solid"/>
          </a:ln>
        </p:spPr>
      </p:sp>
      <p:sp>
        <p:nvSpPr>
          <p:cNvPr id="5" name="Shape 3"/>
          <p:cNvSpPr/>
          <p:nvPr/>
        </p:nvSpPr>
        <p:spPr>
          <a:xfrm>
            <a:off x="731520" y="1280160"/>
            <a:ext cx="1097280" cy="274320"/>
          </a:xfrm>
          <a:prstGeom prst="rect">
            <a:avLst/>
          </a:prstGeom>
          <a:solidFill>
            <a:srgbClr val="1A2D4A"/>
          </a:solidFill>
          <a:ln/>
        </p:spPr>
      </p:sp>
      <p:sp>
        <p:nvSpPr>
          <p:cNvPr id="6" name="Text 4"/>
          <p:cNvSpPr/>
          <p:nvPr/>
        </p:nvSpPr>
        <p:spPr>
          <a:xfrm>
            <a:off x="731520" y="1280160"/>
            <a:ext cx="10972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DISPLAY</a:t>
            </a:r>
            <a:endParaRPr lang="en-US" sz="900" dirty="0"/>
          </a:p>
        </p:txBody>
      </p:sp>
      <p:sp>
        <p:nvSpPr>
          <p:cNvPr id="7" name="Text 5"/>
          <p:cNvSpPr/>
          <p:nvPr/>
        </p:nvSpPr>
        <p:spPr>
          <a:xfrm>
            <a:off x="2103120" y="1234440"/>
            <a:ext cx="3657600" cy="502920"/>
          </a:xfrm>
          <a:prstGeom prst="rect">
            <a:avLst/>
          </a:prstGeom>
          <a:noFill/>
          <a:ln/>
        </p:spPr>
        <p:txBody>
          <a:bodyPr wrap="square" lIns="0" tIns="0" rIns="0" bIns="0" rtlCol="0" anchor="ctr"/>
          <a:lstStyle/>
          <a:p>
            <a:pPr indent="0" marL="0">
              <a:lnSpc>
                <a:spcPct val="115000"/>
              </a:lnSpc>
              <a:buNone/>
            </a:pPr>
            <a:r>
              <a:rPr lang="en-US" sz="1600" b="1" dirty="0">
                <a:solidFill>
                  <a:srgbClr val="1A2D4A"/>
                </a:solidFill>
                <a:latin typeface="Georgia" pitchFamily="34" charset="0"/>
                <a:ea typeface="Georgia" pitchFamily="34" charset="-122"/>
                <a:cs typeface="Georgia" pitchFamily="34" charset="-120"/>
              </a:rPr>
              <a:t>Pixellance, Aperture,</a:t>
            </a:r>
            <a:endParaRPr lang="en-US" sz="1600" dirty="0"/>
          </a:p>
          <a:p>
            <a:pPr indent="0" marL="0">
              <a:lnSpc>
                <a:spcPct val="115000"/>
              </a:lnSpc>
              <a:buNone/>
            </a:pPr>
            <a:r>
              <a:rPr lang="en-US" sz="1600" b="1" dirty="0">
                <a:solidFill>
                  <a:srgbClr val="1A2D4A"/>
                </a:solidFill>
                <a:latin typeface="Georgia" pitchFamily="34" charset="0"/>
                <a:ea typeface="Georgia" pitchFamily="34" charset="-122"/>
                <a:cs typeface="Georgia" pitchFamily="34" charset="-120"/>
              </a:rPr>
              <a:t>League Gothic, Zing Rust Base</a:t>
            </a:r>
            <a:endParaRPr lang="en-US" sz="1600" dirty="0"/>
          </a:p>
        </p:txBody>
      </p:sp>
      <p:sp>
        <p:nvSpPr>
          <p:cNvPr id="8" name="Text 6"/>
          <p:cNvSpPr/>
          <p:nvPr/>
        </p:nvSpPr>
        <p:spPr>
          <a:xfrm>
            <a:off x="5943600" y="1234440"/>
            <a:ext cx="2743200" cy="502920"/>
          </a:xfrm>
          <a:prstGeom prst="rect">
            <a:avLst/>
          </a:prstGeom>
          <a:noFill/>
          <a:ln/>
        </p:spPr>
        <p:txBody>
          <a:bodyPr wrap="square" lIns="0" tIns="0" rIns="0" bIns="0" rtlCol="0" anchor="ctr"/>
          <a:lstStyle/>
          <a:p>
            <a:pPr indent="0" marL="0">
              <a:lnSpc>
                <a:spcPct val="120000"/>
              </a:lnSpc>
              <a:buNone/>
            </a:pPr>
            <a:r>
              <a:rPr lang="en-US" sz="950" dirty="0">
                <a:solidFill>
                  <a:srgbClr val="A89888"/>
                </a:solidFill>
                <a:latin typeface="Calibri" pitchFamily="34" charset="0"/>
                <a:ea typeface="Calibri" pitchFamily="34" charset="-122"/>
                <a:cs typeface="Calibri" pitchFamily="34" charset="-120"/>
              </a:rPr>
              <a:t>Headlines, hero text, brand moments. Bold, high-energy. Used large and sparingly — it's the exclamation mark in our type system.</a:t>
            </a:r>
            <a:endParaRPr lang="en-US" sz="950" dirty="0"/>
          </a:p>
        </p:txBody>
      </p:sp>
      <p:sp>
        <p:nvSpPr>
          <p:cNvPr id="9" name="Shape 7"/>
          <p:cNvSpPr/>
          <p:nvPr/>
        </p:nvSpPr>
        <p:spPr>
          <a:xfrm>
            <a:off x="731520" y="1965960"/>
            <a:ext cx="7680960" cy="0"/>
          </a:xfrm>
          <a:prstGeom prst="line">
            <a:avLst/>
          </a:prstGeom>
          <a:noFill/>
          <a:ln w="6350">
            <a:solidFill>
              <a:srgbClr val="E0D8CE"/>
            </a:solidFill>
            <a:prstDash val="solid"/>
          </a:ln>
        </p:spPr>
      </p:sp>
      <p:sp>
        <p:nvSpPr>
          <p:cNvPr id="10" name="Shape 8"/>
          <p:cNvSpPr/>
          <p:nvPr/>
        </p:nvSpPr>
        <p:spPr>
          <a:xfrm>
            <a:off x="731520" y="2148840"/>
            <a:ext cx="1097280" cy="274320"/>
          </a:xfrm>
          <a:prstGeom prst="rect">
            <a:avLst/>
          </a:prstGeom>
          <a:solidFill>
            <a:srgbClr val="1A2D4A"/>
          </a:solidFill>
          <a:ln/>
        </p:spPr>
      </p:sp>
      <p:sp>
        <p:nvSpPr>
          <p:cNvPr id="11" name="Text 9"/>
          <p:cNvSpPr/>
          <p:nvPr/>
        </p:nvSpPr>
        <p:spPr>
          <a:xfrm>
            <a:off x="731520" y="2148840"/>
            <a:ext cx="10972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HEADER</a:t>
            </a:r>
            <a:endParaRPr lang="en-US" sz="900" dirty="0"/>
          </a:p>
        </p:txBody>
      </p:sp>
      <p:sp>
        <p:nvSpPr>
          <p:cNvPr id="12" name="Text 10"/>
          <p:cNvSpPr/>
          <p:nvPr/>
        </p:nvSpPr>
        <p:spPr>
          <a:xfrm>
            <a:off x="2103120" y="2103120"/>
            <a:ext cx="3657600" cy="502920"/>
          </a:xfrm>
          <a:prstGeom prst="rect">
            <a:avLst/>
          </a:prstGeom>
          <a:noFill/>
          <a:ln/>
        </p:spPr>
        <p:txBody>
          <a:bodyPr wrap="square" lIns="0" tIns="0" rIns="0" bIns="0" rtlCol="0" anchor="ctr"/>
          <a:lstStyle/>
          <a:p>
            <a:pPr indent="0" marL="0">
              <a:lnSpc>
                <a:spcPct val="115000"/>
              </a:lnSpc>
              <a:buNone/>
            </a:pPr>
            <a:r>
              <a:rPr lang="en-US" sz="1600" b="1" dirty="0">
                <a:solidFill>
                  <a:srgbClr val="1A2D4A"/>
                </a:solidFill>
                <a:latin typeface="Georgia" pitchFamily="34" charset="0"/>
                <a:ea typeface="Georgia" pitchFamily="34" charset="-122"/>
                <a:cs typeface="Georgia" pitchFamily="34" charset="-120"/>
              </a:rPr>
              <a:t>Cy Grotesk Wide, Fraunces Bold</a:t>
            </a:r>
            <a:endParaRPr lang="en-US" sz="1600" dirty="0"/>
          </a:p>
          <a:p>
            <a:pPr indent="0" marL="0">
              <a:lnSpc>
                <a:spcPct val="115000"/>
              </a:lnSpc>
              <a:buNone/>
            </a:pPr>
            <a:r>
              <a:rPr lang="en-US" sz="1600" b="1" dirty="0">
                <a:solidFill>
                  <a:srgbClr val="1A2D4A"/>
                </a:solidFill>
                <a:latin typeface="Georgia" pitchFamily="34" charset="0"/>
                <a:ea typeface="Georgia" pitchFamily="34" charset="-122"/>
                <a:cs typeface="Georgia" pitchFamily="34" charset="-120"/>
              </a:rPr>
              <a:t>and Italicized, ABeeZee</a:t>
            </a:r>
            <a:endParaRPr lang="en-US" sz="1600" dirty="0"/>
          </a:p>
        </p:txBody>
      </p:sp>
      <p:sp>
        <p:nvSpPr>
          <p:cNvPr id="13" name="Text 11"/>
          <p:cNvSpPr/>
          <p:nvPr/>
        </p:nvSpPr>
        <p:spPr>
          <a:xfrm>
            <a:off x="5943600" y="2148840"/>
            <a:ext cx="2743200" cy="411480"/>
          </a:xfrm>
          <a:prstGeom prst="rect">
            <a:avLst/>
          </a:prstGeom>
          <a:noFill/>
          <a:ln/>
        </p:spPr>
        <p:txBody>
          <a:bodyPr wrap="square" lIns="0" tIns="0" rIns="0" bIns="0" rtlCol="0" anchor="ctr"/>
          <a:lstStyle/>
          <a:p>
            <a:pPr indent="0" marL="0">
              <a:lnSpc>
                <a:spcPct val="120000"/>
              </a:lnSpc>
              <a:buNone/>
            </a:pPr>
            <a:r>
              <a:rPr lang="en-US" sz="950" dirty="0">
                <a:solidFill>
                  <a:srgbClr val="A89888"/>
                </a:solidFill>
                <a:latin typeface="Calibri" pitchFamily="34" charset="0"/>
                <a:ea typeface="Calibri" pitchFamily="34" charset="-122"/>
                <a:cs typeface="Calibri" pitchFamily="34" charset="-120"/>
              </a:rPr>
              <a:t>Section headers, card titles, navigation labels. Confident but not shouty.</a:t>
            </a:r>
            <a:endParaRPr lang="en-US" sz="950" dirty="0"/>
          </a:p>
        </p:txBody>
      </p:sp>
      <p:sp>
        <p:nvSpPr>
          <p:cNvPr id="14" name="Shape 12"/>
          <p:cNvSpPr/>
          <p:nvPr/>
        </p:nvSpPr>
        <p:spPr>
          <a:xfrm>
            <a:off x="731520" y="2834640"/>
            <a:ext cx="7680960" cy="0"/>
          </a:xfrm>
          <a:prstGeom prst="line">
            <a:avLst/>
          </a:prstGeom>
          <a:noFill/>
          <a:ln w="6350">
            <a:solidFill>
              <a:srgbClr val="E0D8CE"/>
            </a:solidFill>
            <a:prstDash val="solid"/>
          </a:ln>
        </p:spPr>
      </p:sp>
      <p:sp>
        <p:nvSpPr>
          <p:cNvPr id="15" name="Shape 13"/>
          <p:cNvSpPr/>
          <p:nvPr/>
        </p:nvSpPr>
        <p:spPr>
          <a:xfrm>
            <a:off x="731520" y="3017520"/>
            <a:ext cx="1097280" cy="274320"/>
          </a:xfrm>
          <a:prstGeom prst="rect">
            <a:avLst/>
          </a:prstGeom>
          <a:solidFill>
            <a:srgbClr val="1A2D4A"/>
          </a:solidFill>
          <a:ln/>
        </p:spPr>
      </p:sp>
      <p:sp>
        <p:nvSpPr>
          <p:cNvPr id="16" name="Text 14"/>
          <p:cNvSpPr/>
          <p:nvPr/>
        </p:nvSpPr>
        <p:spPr>
          <a:xfrm>
            <a:off x="731520" y="3017520"/>
            <a:ext cx="109728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BODY / UI</a:t>
            </a:r>
            <a:endParaRPr lang="en-US" sz="900" dirty="0"/>
          </a:p>
        </p:txBody>
      </p:sp>
      <p:sp>
        <p:nvSpPr>
          <p:cNvPr id="17" name="Text 15"/>
          <p:cNvSpPr/>
          <p:nvPr/>
        </p:nvSpPr>
        <p:spPr>
          <a:xfrm>
            <a:off x="2103120" y="2971800"/>
            <a:ext cx="3657600" cy="502920"/>
          </a:xfrm>
          <a:prstGeom prst="rect">
            <a:avLst/>
          </a:prstGeom>
          <a:noFill/>
          <a:ln/>
        </p:spPr>
        <p:txBody>
          <a:bodyPr wrap="square" lIns="0" tIns="0" rIns="0" bIns="0" rtlCol="0" anchor="ctr"/>
          <a:lstStyle/>
          <a:p>
            <a:pPr indent="0" marL="0">
              <a:lnSpc>
                <a:spcPct val="115000"/>
              </a:lnSpc>
              <a:buNone/>
            </a:pPr>
            <a:r>
              <a:rPr lang="en-US" sz="1600" b="1" dirty="0">
                <a:solidFill>
                  <a:srgbClr val="1A2D4A"/>
                </a:solidFill>
                <a:latin typeface="Georgia" pitchFamily="34" charset="0"/>
                <a:ea typeface="Georgia" pitchFamily="34" charset="-122"/>
                <a:cs typeface="Georgia" pitchFamily="34" charset="-120"/>
              </a:rPr>
              <a:t>DM Sans, Emmali,</a:t>
            </a:r>
            <a:endParaRPr lang="en-US" sz="1600" dirty="0"/>
          </a:p>
          <a:p>
            <a:pPr indent="0" marL="0">
              <a:lnSpc>
                <a:spcPct val="115000"/>
              </a:lnSpc>
              <a:buNone/>
            </a:pPr>
            <a:r>
              <a:rPr lang="en-US" sz="1600" b="1" dirty="0">
                <a:solidFill>
                  <a:srgbClr val="1A2D4A"/>
                </a:solidFill>
                <a:latin typeface="Georgia" pitchFamily="34" charset="0"/>
                <a:ea typeface="Georgia" pitchFamily="34" charset="-122"/>
                <a:cs typeface="Georgia" pitchFamily="34" charset="-120"/>
              </a:rPr>
              <a:t>Computer Says No</a:t>
            </a:r>
            <a:endParaRPr lang="en-US" sz="1600" dirty="0"/>
          </a:p>
        </p:txBody>
      </p:sp>
      <p:sp>
        <p:nvSpPr>
          <p:cNvPr id="18" name="Text 16"/>
          <p:cNvSpPr/>
          <p:nvPr/>
        </p:nvSpPr>
        <p:spPr>
          <a:xfrm>
            <a:off x="5943600" y="2971800"/>
            <a:ext cx="2743200" cy="594360"/>
          </a:xfrm>
          <a:prstGeom prst="rect">
            <a:avLst/>
          </a:prstGeom>
          <a:noFill/>
          <a:ln/>
        </p:spPr>
        <p:txBody>
          <a:bodyPr wrap="square" lIns="0" tIns="0" rIns="0" bIns="0" rtlCol="0" anchor="ctr"/>
          <a:lstStyle/>
          <a:p>
            <a:pPr indent="0" marL="0">
              <a:lnSpc>
                <a:spcPct val="120000"/>
              </a:lnSpc>
              <a:buNone/>
            </a:pPr>
            <a:r>
              <a:rPr lang="en-US" sz="950" dirty="0">
                <a:solidFill>
                  <a:srgbClr val="A89888"/>
                </a:solidFill>
                <a:latin typeface="Calibri" pitchFamily="34" charset="0"/>
                <a:ea typeface="Calibri" pitchFamily="34" charset="-122"/>
                <a:cs typeface="Calibri" pitchFamily="34" charset="-120"/>
              </a:rPr>
              <a:t>Body copy, UI labels, navigation, captions. Clean geometric sans-serif with warmth. Weights: Regular (400) for body, Medium (500) for UI labels, Bold (700) for emphasis.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5EC"/>
        </a:solidFill>
      </p:bgPr>
    </p:bg>
    <p:spTree>
      <p:nvGrpSpPr>
        <p:cNvPr id="1" name=""/>
        <p:cNvGrpSpPr/>
        <p:nvPr/>
      </p:nvGrpSpPr>
      <p:grpSpPr>
        <a:xfrm>
          <a:off x="0" y="0"/>
          <a:ext cx="0" cy="0"/>
          <a:chOff x="0" y="0"/>
          <a:chExt cx="0" cy="0"/>
        </a:xfrm>
      </p:grpSpPr>
      <p:sp>
        <p:nvSpPr>
          <p:cNvPr id="2" name="Text 0"/>
          <p:cNvSpPr/>
          <p:nvPr/>
        </p:nvSpPr>
        <p:spPr>
          <a:xfrm>
            <a:off x="457200" y="4709160"/>
            <a:ext cx="3657600" cy="320040"/>
          </a:xfrm>
          <a:prstGeom prst="rect">
            <a:avLst/>
          </a:prstGeom>
          <a:noFill/>
          <a:ln/>
        </p:spPr>
        <p:txBody>
          <a:bodyPr wrap="square" lIns="0" tIns="0" rIns="0" bIns="0" rtlCol="0" anchor="ctr"/>
          <a:lstStyle/>
          <a:p>
            <a:pPr indent="0" marL="0">
              <a:buNone/>
            </a:pPr>
            <a:r>
              <a:rPr lang="en-US" sz="800" dirty="0">
                <a:solidFill>
                  <a:srgbClr val="A89888"/>
                </a:solidFill>
                <a:latin typeface="Calibri" pitchFamily="34" charset="0"/>
                <a:ea typeface="Calibri" pitchFamily="34" charset="-122"/>
                <a:cs typeface="Calibri" pitchFamily="34" charset="-120"/>
              </a:rPr>
              <a:t>CONFIDENTIAL  ·  TERRAZZO</a:t>
            </a:r>
            <a:endParaRPr lang="en-US" sz="800" dirty="0"/>
          </a:p>
        </p:txBody>
      </p:sp>
      <p:sp>
        <p:nvSpPr>
          <p:cNvPr id="3" name="Text 1"/>
          <p:cNvSpPr/>
          <p:nvPr/>
        </p:nvSpPr>
        <p:spPr>
          <a:xfrm>
            <a:off x="731520" y="365760"/>
            <a:ext cx="7315200" cy="594360"/>
          </a:xfrm>
          <a:prstGeom prst="rect">
            <a:avLst/>
          </a:prstGeom>
          <a:noFill/>
          <a:ln/>
        </p:spPr>
        <p:txBody>
          <a:bodyPr wrap="square" lIns="0" tIns="0" rIns="0" bIns="0" rtlCol="0" anchor="ctr"/>
          <a:lstStyle/>
          <a:p>
            <a:pPr indent="0" marL="0">
              <a:buNone/>
            </a:pPr>
            <a:r>
              <a:rPr lang="en-US" sz="3200" b="1" dirty="0">
                <a:solidFill>
                  <a:srgbClr val="1A2D4A"/>
                </a:solidFill>
                <a:latin typeface="Georgia" pitchFamily="34" charset="0"/>
                <a:ea typeface="Georgia" pitchFamily="34" charset="-122"/>
                <a:cs typeface="Georgia" pitchFamily="34" charset="-120"/>
              </a:rPr>
              <a:t>Typography Usage</a:t>
            </a:r>
            <a:endParaRPr lang="en-US" sz="3200" dirty="0"/>
          </a:p>
        </p:txBody>
      </p:sp>
      <p:sp>
        <p:nvSpPr>
          <p:cNvPr id="4" name="Shape 2"/>
          <p:cNvSpPr/>
          <p:nvPr/>
        </p:nvSpPr>
        <p:spPr>
          <a:xfrm>
            <a:off x="731520" y="1051560"/>
            <a:ext cx="7680960" cy="0"/>
          </a:xfrm>
          <a:prstGeom prst="line">
            <a:avLst/>
          </a:prstGeom>
          <a:noFill/>
          <a:ln w="19050">
            <a:solidFill>
              <a:srgbClr val="E86F5A"/>
            </a:solidFill>
            <a:prstDash val="solid"/>
          </a:ln>
        </p:spPr>
      </p:sp>
      <p:sp>
        <p:nvSpPr>
          <p:cNvPr id="5" name="Text 3"/>
          <p:cNvSpPr/>
          <p:nvPr/>
        </p:nvSpPr>
        <p:spPr>
          <a:xfrm>
            <a:off x="731520" y="128016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Type Sizing (App)</a:t>
            </a:r>
            <a:endParaRPr lang="en-US" sz="1600" dirty="0"/>
          </a:p>
        </p:txBody>
      </p:sp>
      <p:sp>
        <p:nvSpPr>
          <p:cNvPr id="6" name="Shape 4"/>
          <p:cNvSpPr/>
          <p:nvPr/>
        </p:nvSpPr>
        <p:spPr>
          <a:xfrm>
            <a:off x="731520" y="1691640"/>
            <a:ext cx="1828800" cy="274320"/>
          </a:xfrm>
          <a:prstGeom prst="rect">
            <a:avLst/>
          </a:prstGeom>
          <a:solidFill>
            <a:srgbClr val="F5F0E8"/>
          </a:solidFill>
          <a:ln/>
        </p:spPr>
      </p:sp>
      <p:sp>
        <p:nvSpPr>
          <p:cNvPr id="7" name="Text 5"/>
          <p:cNvSpPr/>
          <p:nvPr/>
        </p:nvSpPr>
        <p:spPr>
          <a:xfrm>
            <a:off x="731520" y="1691640"/>
            <a:ext cx="1828800" cy="274320"/>
          </a:xfrm>
          <a:prstGeom prst="rect">
            <a:avLst/>
          </a:prstGeom>
          <a:noFill/>
          <a:ln/>
        </p:spPr>
        <p:txBody>
          <a:bodyPr wrap="square" lIns="0" tIns="0" rIns="0" bIns="0" rtlCol="0" anchor="ctr"/>
          <a:lstStyle/>
          <a:p>
            <a:pPr algn="ctr" indent="0" marL="0">
              <a:buNone/>
            </a:pPr>
            <a:r>
              <a:rPr lang="en-US" sz="1000" b="1" dirty="0">
                <a:solidFill>
                  <a:srgbClr val="1A2D4A"/>
                </a:solidFill>
                <a:latin typeface="Calibri" pitchFamily="34" charset="0"/>
                <a:ea typeface="Calibri" pitchFamily="34" charset="-122"/>
                <a:cs typeface="Calibri" pitchFamily="34" charset="-120"/>
              </a:rPr>
              <a:t>Hero / Display</a:t>
            </a:r>
            <a:endParaRPr lang="en-US" sz="1000" dirty="0"/>
          </a:p>
        </p:txBody>
      </p:sp>
      <p:sp>
        <p:nvSpPr>
          <p:cNvPr id="8" name="Text 6"/>
          <p:cNvSpPr/>
          <p:nvPr/>
        </p:nvSpPr>
        <p:spPr>
          <a:xfrm>
            <a:off x="2743200" y="1691640"/>
            <a:ext cx="2286000" cy="27432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32–48pt</a:t>
            </a:r>
            <a:endParaRPr lang="en-US" sz="1100" dirty="0"/>
          </a:p>
        </p:txBody>
      </p:sp>
      <p:sp>
        <p:nvSpPr>
          <p:cNvPr id="9" name="Text 7"/>
          <p:cNvSpPr/>
          <p:nvPr/>
        </p:nvSpPr>
        <p:spPr>
          <a:xfrm>
            <a:off x="5029200" y="1691640"/>
            <a:ext cx="3657600" cy="274320"/>
          </a:xfrm>
          <a:prstGeom prst="rect">
            <a:avLst/>
          </a:prstGeom>
          <a:noFill/>
          <a:ln/>
        </p:spPr>
        <p:txBody>
          <a:bodyPr wrap="square" lIns="0" tIns="0" rIns="0" bIns="0" rtlCol="0" anchor="ctr"/>
          <a:lstStyle/>
          <a:p>
            <a:pPr indent="0" marL="0">
              <a:buNone/>
            </a:pPr>
            <a:r>
              <a:rPr lang="en-US" sz="1100" i="1" dirty="0">
                <a:solidFill>
                  <a:srgbClr val="A89888"/>
                </a:solidFill>
                <a:latin typeface="Calibri" pitchFamily="34" charset="0"/>
                <a:ea typeface="Calibri" pitchFamily="34" charset="-122"/>
                <a:cs typeface="Calibri" pitchFamily="34" charset="-120"/>
              </a:rPr>
              <a:t>TERRAZZO</a:t>
            </a:r>
            <a:endParaRPr lang="en-US" sz="1100" dirty="0"/>
          </a:p>
        </p:txBody>
      </p:sp>
      <p:sp>
        <p:nvSpPr>
          <p:cNvPr id="10" name="Shape 8"/>
          <p:cNvSpPr/>
          <p:nvPr/>
        </p:nvSpPr>
        <p:spPr>
          <a:xfrm>
            <a:off x="731520" y="2103120"/>
            <a:ext cx="7680960" cy="0"/>
          </a:xfrm>
          <a:prstGeom prst="line">
            <a:avLst/>
          </a:prstGeom>
          <a:noFill/>
          <a:ln w="3810">
            <a:solidFill>
              <a:srgbClr val="E0D8CE"/>
            </a:solidFill>
            <a:prstDash val="solid"/>
          </a:ln>
        </p:spPr>
      </p:sp>
      <p:sp>
        <p:nvSpPr>
          <p:cNvPr id="11" name="Shape 9"/>
          <p:cNvSpPr/>
          <p:nvPr/>
        </p:nvSpPr>
        <p:spPr>
          <a:xfrm>
            <a:off x="731520" y="2286000"/>
            <a:ext cx="1828800" cy="274320"/>
          </a:xfrm>
          <a:prstGeom prst="rect">
            <a:avLst/>
          </a:prstGeom>
          <a:solidFill>
            <a:srgbClr val="F5F0E8"/>
          </a:solidFill>
          <a:ln/>
        </p:spPr>
      </p:sp>
      <p:sp>
        <p:nvSpPr>
          <p:cNvPr id="12" name="Text 10"/>
          <p:cNvSpPr/>
          <p:nvPr/>
        </p:nvSpPr>
        <p:spPr>
          <a:xfrm>
            <a:off x="731520" y="2286000"/>
            <a:ext cx="1828800" cy="274320"/>
          </a:xfrm>
          <a:prstGeom prst="rect">
            <a:avLst/>
          </a:prstGeom>
          <a:noFill/>
          <a:ln/>
        </p:spPr>
        <p:txBody>
          <a:bodyPr wrap="square" lIns="0" tIns="0" rIns="0" bIns="0" rtlCol="0" anchor="ctr"/>
          <a:lstStyle/>
          <a:p>
            <a:pPr algn="ctr" indent="0" marL="0">
              <a:buNone/>
            </a:pPr>
            <a:r>
              <a:rPr lang="en-US" sz="1000" b="1" dirty="0">
                <a:solidFill>
                  <a:srgbClr val="1A2D4A"/>
                </a:solidFill>
                <a:latin typeface="Calibri" pitchFamily="34" charset="0"/>
                <a:ea typeface="Calibri" pitchFamily="34" charset="-122"/>
                <a:cs typeface="Calibri" pitchFamily="34" charset="-120"/>
              </a:rPr>
              <a:t>Section Headers</a:t>
            </a:r>
            <a:endParaRPr lang="en-US" sz="1000" dirty="0"/>
          </a:p>
        </p:txBody>
      </p:sp>
      <p:sp>
        <p:nvSpPr>
          <p:cNvPr id="13" name="Text 11"/>
          <p:cNvSpPr/>
          <p:nvPr/>
        </p:nvSpPr>
        <p:spPr>
          <a:xfrm>
            <a:off x="2743200" y="2286000"/>
            <a:ext cx="2286000" cy="27432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24–28pt</a:t>
            </a:r>
            <a:endParaRPr lang="en-US" sz="1100" dirty="0"/>
          </a:p>
        </p:txBody>
      </p:sp>
      <p:sp>
        <p:nvSpPr>
          <p:cNvPr id="14" name="Text 12"/>
          <p:cNvSpPr/>
          <p:nvPr/>
        </p:nvSpPr>
        <p:spPr>
          <a:xfrm>
            <a:off x="5029200" y="2286000"/>
            <a:ext cx="3657600" cy="274320"/>
          </a:xfrm>
          <a:prstGeom prst="rect">
            <a:avLst/>
          </a:prstGeom>
          <a:noFill/>
          <a:ln/>
        </p:spPr>
        <p:txBody>
          <a:bodyPr wrap="square" lIns="0" tIns="0" rIns="0" bIns="0" rtlCol="0" anchor="ctr"/>
          <a:lstStyle/>
          <a:p>
            <a:pPr indent="0" marL="0">
              <a:buNone/>
            </a:pPr>
            <a:r>
              <a:rPr lang="en-US" sz="1100" i="1" dirty="0">
                <a:solidFill>
                  <a:srgbClr val="A89888"/>
                </a:solidFill>
                <a:latin typeface="Calibri" pitchFamily="34" charset="0"/>
                <a:ea typeface="Calibri" pitchFamily="34" charset="-122"/>
                <a:cs typeface="Calibri" pitchFamily="34" charset="-120"/>
              </a:rPr>
              <a:t>Discover Lisbon</a:t>
            </a:r>
            <a:endParaRPr lang="en-US" sz="1100" dirty="0"/>
          </a:p>
        </p:txBody>
      </p:sp>
      <p:sp>
        <p:nvSpPr>
          <p:cNvPr id="15" name="Shape 13"/>
          <p:cNvSpPr/>
          <p:nvPr/>
        </p:nvSpPr>
        <p:spPr>
          <a:xfrm>
            <a:off x="731520" y="2697480"/>
            <a:ext cx="7680960" cy="0"/>
          </a:xfrm>
          <a:prstGeom prst="line">
            <a:avLst/>
          </a:prstGeom>
          <a:noFill/>
          <a:ln w="3810">
            <a:solidFill>
              <a:srgbClr val="E0D8CE"/>
            </a:solidFill>
            <a:prstDash val="solid"/>
          </a:ln>
        </p:spPr>
      </p:sp>
      <p:sp>
        <p:nvSpPr>
          <p:cNvPr id="16" name="Shape 14"/>
          <p:cNvSpPr/>
          <p:nvPr/>
        </p:nvSpPr>
        <p:spPr>
          <a:xfrm>
            <a:off x="731520" y="2880360"/>
            <a:ext cx="1828800" cy="274320"/>
          </a:xfrm>
          <a:prstGeom prst="rect">
            <a:avLst/>
          </a:prstGeom>
          <a:solidFill>
            <a:srgbClr val="F5F0E8"/>
          </a:solidFill>
          <a:ln/>
        </p:spPr>
      </p:sp>
      <p:sp>
        <p:nvSpPr>
          <p:cNvPr id="17" name="Text 15"/>
          <p:cNvSpPr/>
          <p:nvPr/>
        </p:nvSpPr>
        <p:spPr>
          <a:xfrm>
            <a:off x="731520" y="2880360"/>
            <a:ext cx="1828800" cy="274320"/>
          </a:xfrm>
          <a:prstGeom prst="rect">
            <a:avLst/>
          </a:prstGeom>
          <a:noFill/>
          <a:ln/>
        </p:spPr>
        <p:txBody>
          <a:bodyPr wrap="square" lIns="0" tIns="0" rIns="0" bIns="0" rtlCol="0" anchor="ctr"/>
          <a:lstStyle/>
          <a:p>
            <a:pPr algn="ctr" indent="0" marL="0">
              <a:buNone/>
            </a:pPr>
            <a:r>
              <a:rPr lang="en-US" sz="1000" b="1" dirty="0">
                <a:solidFill>
                  <a:srgbClr val="1A2D4A"/>
                </a:solidFill>
                <a:latin typeface="Calibri" pitchFamily="34" charset="0"/>
                <a:ea typeface="Calibri" pitchFamily="34" charset="-122"/>
                <a:cs typeface="Calibri" pitchFamily="34" charset="-120"/>
              </a:rPr>
              <a:t>Card Titles</a:t>
            </a:r>
            <a:endParaRPr lang="en-US" sz="1000" dirty="0"/>
          </a:p>
        </p:txBody>
      </p:sp>
      <p:sp>
        <p:nvSpPr>
          <p:cNvPr id="18" name="Text 16"/>
          <p:cNvSpPr/>
          <p:nvPr/>
        </p:nvSpPr>
        <p:spPr>
          <a:xfrm>
            <a:off x="2743200" y="2880360"/>
            <a:ext cx="2286000" cy="27432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18–20pt</a:t>
            </a:r>
            <a:endParaRPr lang="en-US" sz="1100" dirty="0"/>
          </a:p>
        </p:txBody>
      </p:sp>
      <p:sp>
        <p:nvSpPr>
          <p:cNvPr id="19" name="Text 17"/>
          <p:cNvSpPr/>
          <p:nvPr/>
        </p:nvSpPr>
        <p:spPr>
          <a:xfrm>
            <a:off x="5029200" y="2880360"/>
            <a:ext cx="3657600" cy="274320"/>
          </a:xfrm>
          <a:prstGeom prst="rect">
            <a:avLst/>
          </a:prstGeom>
          <a:noFill/>
          <a:ln/>
        </p:spPr>
        <p:txBody>
          <a:bodyPr wrap="square" lIns="0" tIns="0" rIns="0" bIns="0" rtlCol="0" anchor="ctr"/>
          <a:lstStyle/>
          <a:p>
            <a:pPr indent="0" marL="0">
              <a:buNone/>
            </a:pPr>
            <a:r>
              <a:rPr lang="en-US" sz="1100" i="1" dirty="0">
                <a:solidFill>
                  <a:srgbClr val="A89888"/>
                </a:solidFill>
                <a:latin typeface="Calibri" pitchFamily="34" charset="0"/>
                <a:ea typeface="Calibri" pitchFamily="34" charset="-122"/>
                <a:cs typeface="Calibri" pitchFamily="34" charset="-120"/>
              </a:rPr>
              <a:t>Ceramic Workshop</a:t>
            </a:r>
            <a:endParaRPr lang="en-US" sz="1100" dirty="0"/>
          </a:p>
        </p:txBody>
      </p:sp>
      <p:sp>
        <p:nvSpPr>
          <p:cNvPr id="20" name="Shape 18"/>
          <p:cNvSpPr/>
          <p:nvPr/>
        </p:nvSpPr>
        <p:spPr>
          <a:xfrm>
            <a:off x="731520" y="3291840"/>
            <a:ext cx="7680960" cy="0"/>
          </a:xfrm>
          <a:prstGeom prst="line">
            <a:avLst/>
          </a:prstGeom>
          <a:noFill/>
          <a:ln w="3810">
            <a:solidFill>
              <a:srgbClr val="E0D8CE"/>
            </a:solidFill>
            <a:prstDash val="solid"/>
          </a:ln>
        </p:spPr>
      </p:sp>
      <p:sp>
        <p:nvSpPr>
          <p:cNvPr id="21" name="Shape 19"/>
          <p:cNvSpPr/>
          <p:nvPr/>
        </p:nvSpPr>
        <p:spPr>
          <a:xfrm>
            <a:off x="731520" y="3474720"/>
            <a:ext cx="1828800" cy="274320"/>
          </a:xfrm>
          <a:prstGeom prst="rect">
            <a:avLst/>
          </a:prstGeom>
          <a:solidFill>
            <a:srgbClr val="F5F0E8"/>
          </a:solidFill>
          <a:ln/>
        </p:spPr>
      </p:sp>
      <p:sp>
        <p:nvSpPr>
          <p:cNvPr id="22" name="Text 20"/>
          <p:cNvSpPr/>
          <p:nvPr/>
        </p:nvSpPr>
        <p:spPr>
          <a:xfrm>
            <a:off x="731520" y="3474720"/>
            <a:ext cx="1828800" cy="274320"/>
          </a:xfrm>
          <a:prstGeom prst="rect">
            <a:avLst/>
          </a:prstGeom>
          <a:noFill/>
          <a:ln/>
        </p:spPr>
        <p:txBody>
          <a:bodyPr wrap="square" lIns="0" tIns="0" rIns="0" bIns="0" rtlCol="0" anchor="ctr"/>
          <a:lstStyle/>
          <a:p>
            <a:pPr algn="ctr" indent="0" marL="0">
              <a:buNone/>
            </a:pPr>
            <a:r>
              <a:rPr lang="en-US" sz="1000" b="1" dirty="0">
                <a:solidFill>
                  <a:srgbClr val="1A2D4A"/>
                </a:solidFill>
                <a:latin typeface="Calibri" pitchFamily="34" charset="0"/>
                <a:ea typeface="Calibri" pitchFamily="34" charset="-122"/>
                <a:cs typeface="Calibri" pitchFamily="34" charset="-120"/>
              </a:rPr>
              <a:t>Body</a:t>
            </a:r>
            <a:endParaRPr lang="en-US" sz="1000" dirty="0"/>
          </a:p>
        </p:txBody>
      </p:sp>
      <p:sp>
        <p:nvSpPr>
          <p:cNvPr id="23" name="Text 21"/>
          <p:cNvSpPr/>
          <p:nvPr/>
        </p:nvSpPr>
        <p:spPr>
          <a:xfrm>
            <a:off x="2743200" y="3474720"/>
            <a:ext cx="2286000" cy="27432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15–16pt, 1.5 line height</a:t>
            </a:r>
            <a:endParaRPr lang="en-US" sz="1100" dirty="0"/>
          </a:p>
        </p:txBody>
      </p:sp>
      <p:sp>
        <p:nvSpPr>
          <p:cNvPr id="24" name="Text 22"/>
          <p:cNvSpPr/>
          <p:nvPr/>
        </p:nvSpPr>
        <p:spPr>
          <a:xfrm>
            <a:off x="5029200" y="3474720"/>
            <a:ext cx="3657600" cy="274320"/>
          </a:xfrm>
          <a:prstGeom prst="rect">
            <a:avLst/>
          </a:prstGeom>
          <a:noFill/>
          <a:ln/>
        </p:spPr>
        <p:txBody>
          <a:bodyPr wrap="square" lIns="0" tIns="0" rIns="0" bIns="0" rtlCol="0" anchor="ctr"/>
          <a:lstStyle/>
          <a:p>
            <a:pPr indent="0" marL="0">
              <a:buNone/>
            </a:pPr>
            <a:r>
              <a:rPr lang="en-US" sz="1100" i="1" dirty="0">
                <a:solidFill>
                  <a:srgbClr val="A89888"/>
                </a:solidFill>
                <a:latin typeface="Calibri" pitchFamily="34" charset="0"/>
                <a:ea typeface="Calibri" pitchFamily="34" charset="-122"/>
                <a:cs typeface="Calibri" pitchFamily="34" charset="-120"/>
              </a:rPr>
              <a:t>A hidden gem in the heart of Puglia...</a:t>
            </a:r>
            <a:endParaRPr lang="en-US" sz="1100" dirty="0"/>
          </a:p>
        </p:txBody>
      </p:sp>
      <p:sp>
        <p:nvSpPr>
          <p:cNvPr id="25" name="Shape 23"/>
          <p:cNvSpPr/>
          <p:nvPr/>
        </p:nvSpPr>
        <p:spPr>
          <a:xfrm>
            <a:off x="731520" y="3886200"/>
            <a:ext cx="7680960" cy="0"/>
          </a:xfrm>
          <a:prstGeom prst="line">
            <a:avLst/>
          </a:prstGeom>
          <a:noFill/>
          <a:ln w="3810">
            <a:solidFill>
              <a:srgbClr val="E0D8CE"/>
            </a:solidFill>
            <a:prstDash val="solid"/>
          </a:ln>
        </p:spPr>
      </p:sp>
      <p:sp>
        <p:nvSpPr>
          <p:cNvPr id="26" name="Shape 24"/>
          <p:cNvSpPr/>
          <p:nvPr/>
        </p:nvSpPr>
        <p:spPr>
          <a:xfrm>
            <a:off x="731520" y="4069080"/>
            <a:ext cx="1828800" cy="274320"/>
          </a:xfrm>
          <a:prstGeom prst="rect">
            <a:avLst/>
          </a:prstGeom>
          <a:solidFill>
            <a:srgbClr val="F5F0E8"/>
          </a:solidFill>
          <a:ln/>
        </p:spPr>
      </p:sp>
      <p:sp>
        <p:nvSpPr>
          <p:cNvPr id="27" name="Text 25"/>
          <p:cNvSpPr/>
          <p:nvPr/>
        </p:nvSpPr>
        <p:spPr>
          <a:xfrm>
            <a:off x="731520" y="4069080"/>
            <a:ext cx="1828800" cy="274320"/>
          </a:xfrm>
          <a:prstGeom prst="rect">
            <a:avLst/>
          </a:prstGeom>
          <a:noFill/>
          <a:ln/>
        </p:spPr>
        <p:txBody>
          <a:bodyPr wrap="square" lIns="0" tIns="0" rIns="0" bIns="0" rtlCol="0" anchor="ctr"/>
          <a:lstStyle/>
          <a:p>
            <a:pPr algn="ctr" indent="0" marL="0">
              <a:buNone/>
            </a:pPr>
            <a:r>
              <a:rPr lang="en-US" sz="1000" b="1" dirty="0">
                <a:solidFill>
                  <a:srgbClr val="1A2D4A"/>
                </a:solidFill>
                <a:latin typeface="Calibri" pitchFamily="34" charset="0"/>
                <a:ea typeface="Calibri" pitchFamily="34" charset="-122"/>
                <a:cs typeface="Calibri" pitchFamily="34" charset="-120"/>
              </a:rPr>
              <a:t>Captions / Metadata</a:t>
            </a:r>
            <a:endParaRPr lang="en-US" sz="1000" dirty="0"/>
          </a:p>
        </p:txBody>
      </p:sp>
      <p:sp>
        <p:nvSpPr>
          <p:cNvPr id="28" name="Text 26"/>
          <p:cNvSpPr/>
          <p:nvPr/>
        </p:nvSpPr>
        <p:spPr>
          <a:xfrm>
            <a:off x="2743200" y="4069080"/>
            <a:ext cx="2286000" cy="274320"/>
          </a:xfrm>
          <a:prstGeom prst="rect">
            <a:avLst/>
          </a:prstGeom>
          <a:noFill/>
          <a:ln/>
        </p:spPr>
        <p:txBody>
          <a:bodyPr wrap="square" lIns="0" tIns="0" rIns="0" bIns="0" rtlCol="0" anchor="ctr"/>
          <a:lstStyle/>
          <a:p>
            <a:pPr indent="0" marL="0">
              <a:buNone/>
            </a:pPr>
            <a:r>
              <a:rPr lang="en-US" sz="1100" dirty="0">
                <a:solidFill>
                  <a:srgbClr val="2D2D2D"/>
                </a:solidFill>
                <a:latin typeface="Calibri" pitchFamily="34" charset="0"/>
                <a:ea typeface="Calibri" pitchFamily="34" charset="-122"/>
                <a:cs typeface="Calibri" pitchFamily="34" charset="-120"/>
              </a:rPr>
              <a:t>12–13pt</a:t>
            </a:r>
            <a:endParaRPr lang="en-US" sz="1100" dirty="0"/>
          </a:p>
        </p:txBody>
      </p:sp>
      <p:sp>
        <p:nvSpPr>
          <p:cNvPr id="29" name="Text 27"/>
          <p:cNvSpPr/>
          <p:nvPr/>
        </p:nvSpPr>
        <p:spPr>
          <a:xfrm>
            <a:off x="5029200" y="4069080"/>
            <a:ext cx="3657600" cy="274320"/>
          </a:xfrm>
          <a:prstGeom prst="rect">
            <a:avLst/>
          </a:prstGeom>
          <a:noFill/>
          <a:ln/>
        </p:spPr>
        <p:txBody>
          <a:bodyPr wrap="square" lIns="0" tIns="0" rIns="0" bIns="0" rtlCol="0" anchor="ctr"/>
          <a:lstStyle/>
          <a:p>
            <a:pPr indent="0" marL="0">
              <a:buNone/>
            </a:pPr>
            <a:r>
              <a:rPr lang="en-US" sz="1100" i="1" dirty="0">
                <a:solidFill>
                  <a:srgbClr val="A89888"/>
                </a:solidFill>
                <a:latin typeface="Calibri" pitchFamily="34" charset="0"/>
                <a:ea typeface="Calibri" pitchFamily="34" charset="-122"/>
                <a:cs typeface="Calibri" pitchFamily="34" charset="-120"/>
              </a:rPr>
              <a:t>Updated 2 days ago · 4.8 rating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5EC"/>
        </a:solidFill>
      </p:bgPr>
    </p:bg>
    <p:spTree>
      <p:nvGrpSpPr>
        <p:cNvPr id="1" name=""/>
        <p:cNvGrpSpPr/>
        <p:nvPr/>
      </p:nvGrpSpPr>
      <p:grpSpPr>
        <a:xfrm>
          <a:off x="0" y="0"/>
          <a:ext cx="0" cy="0"/>
          <a:chOff x="0" y="0"/>
          <a:chExt cx="0" cy="0"/>
        </a:xfrm>
      </p:grpSpPr>
      <p:sp>
        <p:nvSpPr>
          <p:cNvPr id="2" name="Text 0"/>
          <p:cNvSpPr/>
          <p:nvPr/>
        </p:nvSpPr>
        <p:spPr>
          <a:xfrm>
            <a:off x="457200" y="4709160"/>
            <a:ext cx="3657600" cy="320040"/>
          </a:xfrm>
          <a:prstGeom prst="rect">
            <a:avLst/>
          </a:prstGeom>
          <a:noFill/>
          <a:ln/>
        </p:spPr>
        <p:txBody>
          <a:bodyPr wrap="square" lIns="0" tIns="0" rIns="0" bIns="0" rtlCol="0" anchor="ctr"/>
          <a:lstStyle/>
          <a:p>
            <a:pPr indent="0" marL="0">
              <a:buNone/>
            </a:pPr>
            <a:r>
              <a:rPr lang="en-US" sz="800" dirty="0">
                <a:solidFill>
                  <a:srgbClr val="A89888"/>
                </a:solidFill>
                <a:latin typeface="Calibri" pitchFamily="34" charset="0"/>
                <a:ea typeface="Calibri" pitchFamily="34" charset="-122"/>
                <a:cs typeface="Calibri" pitchFamily="34" charset="-120"/>
              </a:rPr>
              <a:t>CONFIDENTIAL  ·  TERRAZZO</a:t>
            </a:r>
            <a:endParaRPr lang="en-US" sz="800" dirty="0"/>
          </a:p>
        </p:txBody>
      </p:sp>
      <p:sp>
        <p:nvSpPr>
          <p:cNvPr id="3" name="Text 1"/>
          <p:cNvSpPr/>
          <p:nvPr/>
        </p:nvSpPr>
        <p:spPr>
          <a:xfrm>
            <a:off x="731520" y="365760"/>
            <a:ext cx="7315200" cy="594360"/>
          </a:xfrm>
          <a:prstGeom prst="rect">
            <a:avLst/>
          </a:prstGeom>
          <a:noFill/>
          <a:ln/>
        </p:spPr>
        <p:txBody>
          <a:bodyPr wrap="square" lIns="0" tIns="0" rIns="0" bIns="0" rtlCol="0" anchor="ctr"/>
          <a:lstStyle/>
          <a:p>
            <a:pPr indent="0" marL="0">
              <a:buNone/>
            </a:pPr>
            <a:r>
              <a:rPr lang="en-US" sz="3200" b="1" dirty="0">
                <a:solidFill>
                  <a:srgbClr val="1A2D4A"/>
                </a:solidFill>
                <a:latin typeface="Georgia" pitchFamily="34" charset="0"/>
                <a:ea typeface="Georgia" pitchFamily="34" charset="-122"/>
                <a:cs typeface="Georgia" pitchFamily="34" charset="-120"/>
              </a:rPr>
              <a:t>Brand Positioning</a:t>
            </a:r>
            <a:endParaRPr lang="en-US" sz="3200" dirty="0"/>
          </a:p>
        </p:txBody>
      </p:sp>
      <p:sp>
        <p:nvSpPr>
          <p:cNvPr id="4" name="Shape 2"/>
          <p:cNvSpPr/>
          <p:nvPr/>
        </p:nvSpPr>
        <p:spPr>
          <a:xfrm>
            <a:off x="731520" y="1051560"/>
            <a:ext cx="7680960" cy="0"/>
          </a:xfrm>
          <a:prstGeom prst="line">
            <a:avLst/>
          </a:prstGeom>
          <a:noFill/>
          <a:ln w="19050">
            <a:solidFill>
              <a:srgbClr val="E86F5A"/>
            </a:solidFill>
            <a:prstDash val="solid"/>
          </a:ln>
        </p:spPr>
      </p:sp>
      <p:sp>
        <p:nvSpPr>
          <p:cNvPr id="5" name="Text 3"/>
          <p:cNvSpPr/>
          <p:nvPr/>
        </p:nvSpPr>
        <p:spPr>
          <a:xfrm>
            <a:off x="731520" y="123444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Positioning Statement</a:t>
            </a:r>
            <a:endParaRPr lang="en-US" sz="1600" dirty="0"/>
          </a:p>
        </p:txBody>
      </p:sp>
      <p:sp>
        <p:nvSpPr>
          <p:cNvPr id="6" name="Shape 4"/>
          <p:cNvSpPr/>
          <p:nvPr/>
        </p:nvSpPr>
        <p:spPr>
          <a:xfrm>
            <a:off x="731520" y="1645920"/>
            <a:ext cx="54864" cy="731520"/>
          </a:xfrm>
          <a:prstGeom prst="rect">
            <a:avLst/>
          </a:prstGeom>
          <a:solidFill>
            <a:srgbClr val="E86F5A"/>
          </a:solidFill>
          <a:ln/>
        </p:spPr>
      </p:sp>
      <p:sp>
        <p:nvSpPr>
          <p:cNvPr id="7" name="Text 5"/>
          <p:cNvSpPr/>
          <p:nvPr/>
        </p:nvSpPr>
        <p:spPr>
          <a:xfrm>
            <a:off x="1005840" y="1600200"/>
            <a:ext cx="7315200" cy="777240"/>
          </a:xfrm>
          <a:prstGeom prst="rect">
            <a:avLst/>
          </a:prstGeom>
          <a:noFill/>
          <a:ln/>
        </p:spPr>
        <p:txBody>
          <a:bodyPr wrap="square" lIns="0" tIns="0" rIns="0" bIns="0" rtlCol="0" anchor="ctr"/>
          <a:lstStyle/>
          <a:p>
            <a:pPr indent="0" marL="0">
              <a:lnSpc>
                <a:spcPct val="135000"/>
              </a:lnSpc>
              <a:buNone/>
            </a:pPr>
            <a:r>
              <a:rPr lang="en-US" sz="1250" i="1" dirty="0">
                <a:solidFill>
                  <a:srgbClr val="1A2D4A"/>
                </a:solidFill>
                <a:latin typeface="Georgia" pitchFamily="34" charset="0"/>
                <a:ea typeface="Georgia" pitchFamily="34" charset="-122"/>
                <a:cs typeface="Georgia" pitchFamily="34" charset="-120"/>
              </a:rPr>
              <a:t>For culturally curious travelers who believe a trip should change how you see the world, Terrazzo is the travel app that curates destinations through art, architecture, food, and craft — turning every journey into a Grand Tour for the modern age.</a:t>
            </a:r>
            <a:endParaRPr lang="en-US" sz="1250" dirty="0"/>
          </a:p>
        </p:txBody>
      </p:sp>
      <p:sp>
        <p:nvSpPr>
          <p:cNvPr id="8" name="Text 6"/>
          <p:cNvSpPr/>
          <p:nvPr/>
        </p:nvSpPr>
        <p:spPr>
          <a:xfrm>
            <a:off x="731520" y="260604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Competitive Landscape</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3017520"/>
          <a:ext cx="7680960" cy="914400"/>
        </p:xfrm>
        <a:graphic>
          <a:graphicData uri="http://schemas.openxmlformats.org/drawingml/2006/table">
            <a:tbl>
              <a:tblPr/>
              <a:tblGrid>
                <a:gridCol w="1280160"/>
                <a:gridCol w="2103120"/>
                <a:gridCol w="2103120"/>
                <a:gridCol w="2194560"/>
              </a:tblGrid>
              <a:tr h="292608">
                <a:tc>
                  <a:txBody>
                    <a:bodyPr/>
                    <a:lstStyle/>
                    <a:p>
                      <a:pPr indent="0" marL="0">
                        <a:buNone/>
                      </a:pPr>
                      <a:endParaRPr lang="en-US" sz="1000" dirty="0"/>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BF5EC"/>
                    </a:solidFill>
                  </a:tcPr>
                </a:tc>
                <a:tc>
                  <a:txBody>
                    <a:bodyPr/>
                    <a:lstStyle/>
                    <a:p>
                      <a:pPr indent="0" marL="0">
                        <a:buNone/>
                      </a:pPr>
                      <a:r>
                        <a:rPr lang="en-US" sz="1000" b="1" dirty="0">
                          <a:solidFill>
                            <a:srgbClr val="2D2D2D"/>
                          </a:solidFill>
                          <a:latin typeface="Calibri" pitchFamily="34" charset="0"/>
                          <a:ea typeface="Calibri" pitchFamily="34" charset="-122"/>
                          <a:cs typeface="Calibri" pitchFamily="34" charset="-120"/>
                        </a:rPr>
                        <a:t>Mass Travel Apps</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BF5EC"/>
                    </a:solidFill>
                  </a:tcPr>
                </a:tc>
                <a:tc>
                  <a:txBody>
                    <a:bodyPr/>
                    <a:lstStyle/>
                    <a:p>
                      <a:pPr indent="0" marL="0">
                        <a:buNone/>
                      </a:pPr>
                      <a:r>
                        <a:rPr lang="en-US" sz="1000" b="1" dirty="0">
                          <a:solidFill>
                            <a:srgbClr val="2D2D2D"/>
                          </a:solidFill>
                          <a:latin typeface="Calibri" pitchFamily="34" charset="0"/>
                          <a:ea typeface="Calibri" pitchFamily="34" charset="-122"/>
                          <a:cs typeface="Calibri" pitchFamily="34" charset="-120"/>
                        </a:rPr>
                        <a:t>Luxury Concierge</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BF5E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Terrazzo</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1A2D4A"/>
                    </a:solidFill>
                  </a:tcPr>
                </a:tc>
              </a:tr>
              <a:tr h="292608">
                <a:tc>
                  <a:txBody>
                    <a:bodyPr/>
                    <a:lstStyle/>
                    <a:p>
                      <a:pPr indent="0" marL="0">
                        <a:buNone/>
                      </a:pPr>
                      <a:r>
                        <a:rPr lang="en-US" sz="1000" b="1" dirty="0">
                          <a:solidFill>
                            <a:srgbClr val="1A2D4A"/>
                          </a:solidFill>
                          <a:latin typeface="Calibri" pitchFamily="34" charset="0"/>
                          <a:ea typeface="Calibri" pitchFamily="34" charset="-122"/>
                          <a:cs typeface="Calibri" pitchFamily="34" charset="-120"/>
                        </a:rPr>
                        <a:t>Focus</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BF5EC"/>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Price &amp; logistics</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Exclusivity</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BF5EC"/>
                    </a:solidFill>
                  </a:tcPr>
                </a:tc>
                <a:tc>
                  <a:txBody>
                    <a:bodyPr/>
                    <a:lstStyle/>
                    <a:p>
                      <a:pPr indent="0" marL="0">
                        <a:buNone/>
                      </a:pPr>
                      <a:r>
                        <a:rPr lang="en-US" sz="1000" b="1" dirty="0">
                          <a:solidFill>
                            <a:srgbClr val="1A2D4A"/>
                          </a:solidFill>
                          <a:latin typeface="Calibri" pitchFamily="34" charset="0"/>
                          <a:ea typeface="Calibri" pitchFamily="34" charset="-122"/>
                          <a:cs typeface="Calibri" pitchFamily="34" charset="-120"/>
                        </a:rPr>
                        <a:t>Cultural depth</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4BFA0"/>
                    </a:solidFill>
                  </a:tcPr>
                </a:tc>
              </a:tr>
              <a:tr h="292608">
                <a:tc>
                  <a:txBody>
                    <a:bodyPr/>
                    <a:lstStyle/>
                    <a:p>
                      <a:pPr indent="0" marL="0">
                        <a:buNone/>
                      </a:pPr>
                      <a:r>
                        <a:rPr lang="en-US" sz="1000" b="1" dirty="0">
                          <a:solidFill>
                            <a:srgbClr val="1A2D4A"/>
                          </a:solidFill>
                          <a:latin typeface="Calibri" pitchFamily="34" charset="0"/>
                          <a:ea typeface="Calibri" pitchFamily="34" charset="-122"/>
                          <a:cs typeface="Calibri" pitchFamily="34" charset="-120"/>
                        </a:rPr>
                        <a:t>Audience</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BF5EC"/>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Everyone</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High net worth</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BF5EC"/>
                    </a:solidFill>
                  </a:tcPr>
                </a:tc>
                <a:tc>
                  <a:txBody>
                    <a:bodyPr/>
                    <a:lstStyle/>
                    <a:p>
                      <a:pPr indent="0" marL="0">
                        <a:buNone/>
                      </a:pPr>
                      <a:r>
                        <a:rPr lang="en-US" sz="1000" b="1" dirty="0">
                          <a:solidFill>
                            <a:srgbClr val="1A2D4A"/>
                          </a:solidFill>
                          <a:latin typeface="Calibri" pitchFamily="34" charset="0"/>
                          <a:ea typeface="Calibri" pitchFamily="34" charset="-122"/>
                          <a:cs typeface="Calibri" pitchFamily="34" charset="-120"/>
                        </a:rPr>
                        <a:t>Design-minded explorers</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4BFA0"/>
                    </a:solidFill>
                  </a:tcPr>
                </a:tc>
              </a:tr>
              <a:tr h="292608">
                <a:tc>
                  <a:txBody>
                    <a:bodyPr/>
                    <a:lstStyle/>
                    <a:p>
                      <a:pPr indent="0" marL="0">
                        <a:buNone/>
                      </a:pPr>
                      <a:r>
                        <a:rPr lang="en-US" sz="1000" b="1" dirty="0">
                          <a:solidFill>
                            <a:srgbClr val="1A2D4A"/>
                          </a:solidFill>
                          <a:latin typeface="Calibri" pitchFamily="34" charset="0"/>
                          <a:ea typeface="Calibri" pitchFamily="34" charset="-122"/>
                          <a:cs typeface="Calibri" pitchFamily="34" charset="-120"/>
                        </a:rPr>
                        <a:t>Tone</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BF5EC"/>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Transactional</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Aspirational</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BF5EC"/>
                    </a:solidFill>
                  </a:tcPr>
                </a:tc>
                <a:tc>
                  <a:txBody>
                    <a:bodyPr/>
                    <a:lstStyle/>
                    <a:p>
                      <a:pPr indent="0" marL="0">
                        <a:buNone/>
                      </a:pPr>
                      <a:r>
                        <a:rPr lang="en-US" sz="1000" b="1" dirty="0">
                          <a:solidFill>
                            <a:srgbClr val="1A2D4A"/>
                          </a:solidFill>
                          <a:latin typeface="Calibri" pitchFamily="34" charset="0"/>
                          <a:ea typeface="Calibri" pitchFamily="34" charset="-122"/>
                          <a:cs typeface="Calibri" pitchFamily="34" charset="-120"/>
                        </a:rPr>
                        <a:t>Personal, vivid</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4BFA0"/>
                    </a:solidFill>
                  </a:tcPr>
                </a:tc>
              </a:tr>
              <a:tr h="292608">
                <a:tc>
                  <a:txBody>
                    <a:bodyPr/>
                    <a:lstStyle/>
                    <a:p>
                      <a:pPr indent="0" marL="0">
                        <a:buNone/>
                      </a:pPr>
                      <a:r>
                        <a:rPr lang="en-US" sz="1000" b="1" dirty="0">
                          <a:solidFill>
                            <a:srgbClr val="1A2D4A"/>
                          </a:solidFill>
                          <a:latin typeface="Calibri" pitchFamily="34" charset="0"/>
                          <a:ea typeface="Calibri" pitchFamily="34" charset="-122"/>
                          <a:cs typeface="Calibri" pitchFamily="34" charset="-120"/>
                        </a:rPr>
                        <a:t>Curation</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BF5EC"/>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Algorithmic</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Human concierge</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BF5EC"/>
                    </a:solidFill>
                  </a:tcPr>
                </a:tc>
                <a:tc>
                  <a:txBody>
                    <a:bodyPr/>
                    <a:lstStyle/>
                    <a:p>
                      <a:pPr indent="0" marL="0">
                        <a:buNone/>
                      </a:pPr>
                      <a:r>
                        <a:rPr lang="en-US" sz="1000" b="1" dirty="0">
                          <a:solidFill>
                            <a:srgbClr val="1A2D4A"/>
                          </a:solidFill>
                          <a:latin typeface="Calibri" pitchFamily="34" charset="0"/>
                          <a:ea typeface="Calibri" pitchFamily="34" charset="-122"/>
                          <a:cs typeface="Calibri" pitchFamily="34" charset="-120"/>
                        </a:rPr>
                        <a:t>Editorial + community</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4BFA0"/>
                    </a:solidFill>
                  </a:tcPr>
                </a:tc>
              </a:tr>
              <a:tr h="292608">
                <a:tc>
                  <a:txBody>
                    <a:bodyPr/>
                    <a:lstStyle/>
                    <a:p>
                      <a:pPr indent="0" marL="0">
                        <a:buNone/>
                      </a:pPr>
                      <a:r>
                        <a:rPr lang="en-US" sz="1000" b="1" dirty="0">
                          <a:solidFill>
                            <a:srgbClr val="1A2D4A"/>
                          </a:solidFill>
                          <a:latin typeface="Calibri" pitchFamily="34" charset="0"/>
                          <a:ea typeface="Calibri" pitchFamily="34" charset="-122"/>
                          <a:cs typeface="Calibri" pitchFamily="34" charset="-120"/>
                        </a:rPr>
                        <a:t>Brand Feel</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BF5EC"/>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Utility</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Prestige</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BF5EC"/>
                    </a:solidFill>
                  </a:tcPr>
                </a:tc>
                <a:tc>
                  <a:txBody>
                    <a:bodyPr/>
                    <a:lstStyle/>
                    <a:p>
                      <a:pPr indent="0" marL="0">
                        <a:buNone/>
                      </a:pPr>
                      <a:r>
                        <a:rPr lang="en-US" sz="1000" b="1" dirty="0">
                          <a:solidFill>
                            <a:srgbClr val="1A2D4A"/>
                          </a:solidFill>
                          <a:latin typeface="Calibri" pitchFamily="34" charset="0"/>
                          <a:ea typeface="Calibri" pitchFamily="34" charset="-122"/>
                          <a:cs typeface="Calibri" pitchFamily="34" charset="-120"/>
                        </a:rPr>
                        <a:t>Discovery &amp; energy</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F4BFA0"/>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EC"/>
        </a:solidFill>
      </p:bgPr>
    </p:bg>
    <p:spTree>
      <p:nvGrpSpPr>
        <p:cNvPr id="1" name=""/>
        <p:cNvGrpSpPr/>
        <p:nvPr/>
      </p:nvGrpSpPr>
      <p:grpSpPr>
        <a:xfrm>
          <a:off x="0" y="0"/>
          <a:ext cx="0" cy="0"/>
          <a:chOff x="0" y="0"/>
          <a:chExt cx="0" cy="0"/>
        </a:xfrm>
      </p:grpSpPr>
      <p:sp>
        <p:nvSpPr>
          <p:cNvPr id="2" name="Text 0"/>
          <p:cNvSpPr/>
          <p:nvPr/>
        </p:nvSpPr>
        <p:spPr>
          <a:xfrm>
            <a:off x="457200" y="4709160"/>
            <a:ext cx="3657600" cy="320040"/>
          </a:xfrm>
          <a:prstGeom prst="rect">
            <a:avLst/>
          </a:prstGeom>
          <a:noFill/>
          <a:ln/>
        </p:spPr>
        <p:txBody>
          <a:bodyPr wrap="square" lIns="0" tIns="0" rIns="0" bIns="0" rtlCol="0" anchor="ctr"/>
          <a:lstStyle/>
          <a:p>
            <a:pPr indent="0" marL="0">
              <a:buNone/>
            </a:pPr>
            <a:r>
              <a:rPr lang="en-US" sz="800" dirty="0">
                <a:solidFill>
                  <a:srgbClr val="A89888"/>
                </a:solidFill>
                <a:latin typeface="Calibri" pitchFamily="34" charset="0"/>
                <a:ea typeface="Calibri" pitchFamily="34" charset="-122"/>
                <a:cs typeface="Calibri" pitchFamily="34" charset="-120"/>
              </a:rPr>
              <a:t>CONFIDENTIAL  ·  TERRAZZO</a:t>
            </a:r>
            <a:endParaRPr lang="en-US" sz="800" dirty="0"/>
          </a:p>
        </p:txBody>
      </p:sp>
      <p:sp>
        <p:nvSpPr>
          <p:cNvPr id="3" name="Text 1"/>
          <p:cNvSpPr/>
          <p:nvPr/>
        </p:nvSpPr>
        <p:spPr>
          <a:xfrm>
            <a:off x="731520" y="365760"/>
            <a:ext cx="7680960" cy="594360"/>
          </a:xfrm>
          <a:prstGeom prst="rect">
            <a:avLst/>
          </a:prstGeom>
          <a:noFill/>
          <a:ln/>
        </p:spPr>
        <p:txBody>
          <a:bodyPr wrap="square" lIns="0" tIns="0" rIns="0" bIns="0" rtlCol="0" anchor="ctr"/>
          <a:lstStyle/>
          <a:p>
            <a:pPr indent="0" marL="0">
              <a:buNone/>
            </a:pPr>
            <a:r>
              <a:rPr lang="en-US" sz="2800" b="1" dirty="0">
                <a:solidFill>
                  <a:srgbClr val="1A2D4A"/>
                </a:solidFill>
                <a:latin typeface="Georgia" pitchFamily="34" charset="0"/>
                <a:ea typeface="Georgia" pitchFamily="34" charset="-122"/>
                <a:cs typeface="Georgia" pitchFamily="34" charset="-120"/>
              </a:rPr>
              <a:t>Visual &amp; Design References</a:t>
            </a:r>
            <a:endParaRPr lang="en-US" sz="2800" dirty="0"/>
          </a:p>
        </p:txBody>
      </p:sp>
      <p:sp>
        <p:nvSpPr>
          <p:cNvPr id="4" name="Shape 2"/>
          <p:cNvSpPr/>
          <p:nvPr/>
        </p:nvSpPr>
        <p:spPr>
          <a:xfrm>
            <a:off x="731520" y="1051560"/>
            <a:ext cx="7680960" cy="0"/>
          </a:xfrm>
          <a:prstGeom prst="line">
            <a:avLst/>
          </a:prstGeom>
          <a:noFill/>
          <a:ln w="19050">
            <a:solidFill>
              <a:srgbClr val="E86F5A"/>
            </a:solidFill>
            <a:prstDash val="solid"/>
          </a:ln>
        </p:spPr>
      </p:sp>
      <p:sp>
        <p:nvSpPr>
          <p:cNvPr id="5" name="Text 3"/>
          <p:cNvSpPr/>
          <p:nvPr/>
        </p:nvSpPr>
        <p:spPr>
          <a:xfrm>
            <a:off x="731520" y="123444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Primary Influences</a:t>
            </a:r>
            <a:endParaRPr lang="en-US" sz="1600" dirty="0"/>
          </a:p>
        </p:txBody>
      </p:sp>
      <p:sp>
        <p:nvSpPr>
          <p:cNvPr id="6" name="Text 4"/>
          <p:cNvSpPr/>
          <p:nvPr/>
        </p:nvSpPr>
        <p:spPr>
          <a:xfrm>
            <a:off x="731520" y="1645920"/>
            <a:ext cx="7680960" cy="365760"/>
          </a:xfrm>
          <a:prstGeom prst="rect">
            <a:avLst/>
          </a:prstGeom>
          <a:noFill/>
          <a:ln/>
        </p:spPr>
        <p:txBody>
          <a:bodyPr wrap="square" lIns="0" tIns="0" rIns="0" bIns="0" rtlCol="0" anchor="ctr"/>
          <a:lstStyle/>
          <a:p>
            <a:pPr indent="0" marL="0">
              <a:lnSpc>
                <a:spcPct val="120000"/>
              </a:lnSpc>
              <a:buNone/>
            </a:pPr>
            <a:r>
              <a:rPr lang="en-US" sz="1150" b="1" dirty="0">
                <a:solidFill>
                  <a:srgbClr val="1A2D4A"/>
                </a:solidFill>
                <a:latin typeface="Calibri" pitchFamily="34" charset="0"/>
                <a:ea typeface="Calibri" pitchFamily="34" charset="-122"/>
                <a:cs typeface="Calibri" pitchFamily="34" charset="-120"/>
              </a:rPr>
              <a:t>Fortunato Depero:</a:t>
            </a:r>
            <a:pPr indent="0" marL="0">
              <a:lnSpc>
                <a:spcPct val="120000"/>
              </a:lnSpc>
              <a:buNone/>
            </a:pPr>
            <a:r>
              <a:rPr lang="en-US" sz="1150" dirty="0">
                <a:solidFill>
                  <a:srgbClr val="2D2D2D"/>
                </a:solidFill>
                <a:latin typeface="Calibri" pitchFamily="34" charset="0"/>
                <a:ea typeface="Calibri" pitchFamily="34" charset="-122"/>
                <a:cs typeface="Calibri" pitchFamily="34" charset="-120"/>
              </a:rPr>
              <a:t> Bold geometric poster art, dynamic compositions, playful abstraction. The visual energy we're channeling.</a:t>
            </a:r>
            <a:endParaRPr lang="en-US" sz="1150" dirty="0"/>
          </a:p>
        </p:txBody>
      </p:sp>
      <p:sp>
        <p:nvSpPr>
          <p:cNvPr id="7" name="Text 5"/>
          <p:cNvSpPr/>
          <p:nvPr/>
        </p:nvSpPr>
        <p:spPr>
          <a:xfrm>
            <a:off x="731520" y="2057400"/>
            <a:ext cx="7680960" cy="365760"/>
          </a:xfrm>
          <a:prstGeom prst="rect">
            <a:avLst/>
          </a:prstGeom>
          <a:noFill/>
          <a:ln/>
        </p:spPr>
        <p:txBody>
          <a:bodyPr wrap="square" lIns="0" tIns="0" rIns="0" bIns="0" rtlCol="0" anchor="ctr"/>
          <a:lstStyle/>
          <a:p>
            <a:pPr indent="0" marL="0">
              <a:lnSpc>
                <a:spcPct val="120000"/>
              </a:lnSpc>
              <a:buNone/>
            </a:pPr>
            <a:r>
              <a:rPr lang="en-US" sz="1150" b="1" dirty="0">
                <a:solidFill>
                  <a:srgbClr val="1A2D4A"/>
                </a:solidFill>
                <a:latin typeface="Calibri" pitchFamily="34" charset="0"/>
                <a:ea typeface="Calibri" pitchFamily="34" charset="-122"/>
                <a:cs typeface="Calibri" pitchFamily="34" charset="-120"/>
              </a:rPr>
              <a:t>Mid-century travel posters:</a:t>
            </a:r>
            <a:pPr indent="0" marL="0">
              <a:lnSpc>
                <a:spcPct val="120000"/>
              </a:lnSpc>
              <a:buNone/>
            </a:pPr>
            <a:r>
              <a:rPr lang="en-US" sz="1150" dirty="0">
                <a:solidFill>
                  <a:srgbClr val="2D2D2D"/>
                </a:solidFill>
                <a:latin typeface="Calibri" pitchFamily="34" charset="0"/>
                <a:ea typeface="Calibri" pitchFamily="34" charset="-122"/>
                <a:cs typeface="Calibri" pitchFamily="34" charset="-120"/>
              </a:rPr>
              <a:t> Flat color, dramatic composition, aspirational but accessible. Artists like David Klein and Roger Broders.</a:t>
            </a:r>
            <a:endParaRPr lang="en-US" sz="1150" dirty="0"/>
          </a:p>
        </p:txBody>
      </p:sp>
      <p:sp>
        <p:nvSpPr>
          <p:cNvPr id="8" name="Text 6"/>
          <p:cNvSpPr/>
          <p:nvPr/>
        </p:nvSpPr>
        <p:spPr>
          <a:xfrm>
            <a:off x="731520" y="2468880"/>
            <a:ext cx="7680960" cy="365760"/>
          </a:xfrm>
          <a:prstGeom prst="rect">
            <a:avLst/>
          </a:prstGeom>
          <a:noFill/>
          <a:ln/>
        </p:spPr>
        <p:txBody>
          <a:bodyPr wrap="square" lIns="0" tIns="0" rIns="0" bIns="0" rtlCol="0" anchor="ctr"/>
          <a:lstStyle/>
          <a:p>
            <a:pPr indent="0" marL="0">
              <a:lnSpc>
                <a:spcPct val="120000"/>
              </a:lnSpc>
              <a:buNone/>
            </a:pPr>
            <a:r>
              <a:rPr lang="en-US" sz="1150" b="1" dirty="0">
                <a:solidFill>
                  <a:srgbClr val="1A2D4A"/>
                </a:solidFill>
                <a:latin typeface="Calibri" pitchFamily="34" charset="0"/>
                <a:ea typeface="Calibri" pitchFamily="34" charset="-122"/>
                <a:cs typeface="Calibri" pitchFamily="34" charset="-120"/>
              </a:rPr>
              <a:t>Matisse paper cutouts:</a:t>
            </a:r>
            <a:pPr indent="0" marL="0">
              <a:lnSpc>
                <a:spcPct val="120000"/>
              </a:lnSpc>
              <a:buNone/>
            </a:pPr>
            <a:r>
              <a:rPr lang="en-US" sz="1150" dirty="0">
                <a:solidFill>
                  <a:srgbClr val="2D2D2D"/>
                </a:solidFill>
                <a:latin typeface="Calibri" pitchFamily="34" charset="0"/>
                <a:ea typeface="Calibri" pitchFamily="34" charset="-122"/>
                <a:cs typeface="Calibri" pitchFamily="34" charset="-120"/>
              </a:rPr>
              <a:t> The organic, biomorphic shapes that balance our geometric forms. Loose, joyful, handmade-feeling.</a:t>
            </a:r>
            <a:endParaRPr lang="en-US" sz="1150" dirty="0"/>
          </a:p>
        </p:txBody>
      </p:sp>
      <p:sp>
        <p:nvSpPr>
          <p:cNvPr id="9" name="Text 7"/>
          <p:cNvSpPr/>
          <p:nvPr/>
        </p:nvSpPr>
        <p:spPr>
          <a:xfrm>
            <a:off x="731520" y="2880360"/>
            <a:ext cx="7680960" cy="365760"/>
          </a:xfrm>
          <a:prstGeom prst="rect">
            <a:avLst/>
          </a:prstGeom>
          <a:noFill/>
          <a:ln/>
        </p:spPr>
        <p:txBody>
          <a:bodyPr wrap="square" lIns="0" tIns="0" rIns="0" bIns="0" rtlCol="0" anchor="ctr"/>
          <a:lstStyle/>
          <a:p>
            <a:pPr indent="0" marL="0">
              <a:lnSpc>
                <a:spcPct val="120000"/>
              </a:lnSpc>
              <a:buNone/>
            </a:pPr>
            <a:r>
              <a:rPr lang="en-US" sz="1150" b="1" dirty="0">
                <a:solidFill>
                  <a:srgbClr val="1A2D4A"/>
                </a:solidFill>
                <a:latin typeface="Calibri" pitchFamily="34" charset="0"/>
                <a:ea typeface="Calibri" pitchFamily="34" charset="-122"/>
                <a:cs typeface="Calibri" pitchFamily="34" charset="-120"/>
              </a:rPr>
              <a:t>Contemporary editorial design:</a:t>
            </a:r>
            <a:pPr indent="0" marL="0">
              <a:lnSpc>
                <a:spcPct val="120000"/>
              </a:lnSpc>
              <a:buNone/>
            </a:pPr>
            <a:r>
              <a:rPr lang="en-US" sz="1150" dirty="0">
                <a:solidFill>
                  <a:srgbClr val="2D2D2D"/>
                </a:solidFill>
                <a:latin typeface="Calibri" pitchFamily="34" charset="0"/>
                <a:ea typeface="Calibri" pitchFamily="34" charset="-122"/>
                <a:cs typeface="Calibri" pitchFamily="34" charset="-120"/>
              </a:rPr>
              <a:t> Publications like Apartamento, Kinfolk, and Monocle for layout sensibility and editorial confidence.</a:t>
            </a:r>
            <a:endParaRPr lang="en-US" sz="1150" dirty="0"/>
          </a:p>
        </p:txBody>
      </p:sp>
      <p:sp>
        <p:nvSpPr>
          <p:cNvPr id="10" name="Text 8"/>
          <p:cNvSpPr/>
          <p:nvPr/>
        </p:nvSpPr>
        <p:spPr>
          <a:xfrm>
            <a:off x="731520" y="3246120"/>
            <a:ext cx="7315200" cy="411480"/>
          </a:xfrm>
          <a:prstGeom prst="rect">
            <a:avLst/>
          </a:prstGeom>
          <a:noFill/>
          <a:ln/>
        </p:spPr>
        <p:txBody>
          <a:bodyPr wrap="square" lIns="0" tIns="0" rIns="0" bIns="0" rtlCol="0" anchor="ctr"/>
          <a:lstStyle/>
          <a:p>
            <a:pPr indent="0" marL="0">
              <a:buNone/>
            </a:pPr>
            <a:r>
              <a:rPr lang="en-US" sz="1600" b="1" dirty="0">
                <a:solidFill>
                  <a:srgbClr val="E86F5A"/>
                </a:solidFill>
                <a:latin typeface="Georgia" pitchFamily="34" charset="0"/>
                <a:ea typeface="Georgia" pitchFamily="34" charset="-122"/>
                <a:cs typeface="Georgia" pitchFamily="34" charset="-120"/>
              </a:rPr>
              <a:t>How References Map to the Brand</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3566160"/>
          <a:ext cx="7680960" cy="914400"/>
        </p:xfrm>
        <a:graphic>
          <a:graphicData uri="http://schemas.openxmlformats.org/drawingml/2006/table">
            <a:tbl>
              <a:tblPr/>
              <a:tblGrid>
                <a:gridCol w="1828800"/>
                <a:gridCol w="3200400"/>
                <a:gridCol w="2651760"/>
              </a:tblGrid>
              <a:tr h="22860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Reference</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1A2D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We Take</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1A2D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We Leave</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solidFill>
                      <a:srgbClr val="1A2D4A"/>
                    </a:solidFill>
                  </a:tcPr>
                </a:tc>
              </a:tr>
              <a:tr h="246888">
                <a:tc>
                  <a:txBody>
                    <a:bodyPr/>
                    <a:lstStyle/>
                    <a:p>
                      <a:pPr indent="0" marL="0">
                        <a:buNone/>
                      </a:pPr>
                      <a:r>
                        <a:rPr lang="en-US" sz="1000" b="1" dirty="0">
                          <a:solidFill>
                            <a:srgbClr val="1A2D4A"/>
                          </a:solidFill>
                          <a:latin typeface="Calibri" pitchFamily="34" charset="0"/>
                          <a:ea typeface="Calibri" pitchFamily="34" charset="-122"/>
                          <a:cs typeface="Calibri" pitchFamily="34" charset="-120"/>
                        </a:rPr>
                        <a:t>Italian Futurism</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Velocity, geometric boldness, dynamic angles</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Aggressive ideology, masculine militancy</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tcPr>
                </a:tc>
              </a:tr>
              <a:tr h="246888">
                <a:tc>
                  <a:txBody>
                    <a:bodyPr/>
                    <a:lstStyle/>
                    <a:p>
                      <a:pPr indent="0" marL="0">
                        <a:buNone/>
                      </a:pPr>
                      <a:r>
                        <a:rPr lang="en-US" sz="1000" b="1" dirty="0">
                          <a:solidFill>
                            <a:srgbClr val="1A2D4A"/>
                          </a:solidFill>
                          <a:latin typeface="Calibri" pitchFamily="34" charset="0"/>
                          <a:ea typeface="Calibri" pitchFamily="34" charset="-122"/>
                          <a:cs typeface="Calibri" pitchFamily="34" charset="-120"/>
                        </a:rPr>
                        <a:t>Depero</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Playful abstraction, color confidence, poster scale</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Literal product advertising</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tcPr>
                </a:tc>
              </a:tr>
              <a:tr h="246888">
                <a:tc>
                  <a:txBody>
                    <a:bodyPr/>
                    <a:lstStyle/>
                    <a:p>
                      <a:pPr indent="0" marL="0">
                        <a:buNone/>
                      </a:pPr>
                      <a:r>
                        <a:rPr lang="en-US" sz="1000" b="1" dirty="0">
                          <a:solidFill>
                            <a:srgbClr val="1A2D4A"/>
                          </a:solidFill>
                          <a:latin typeface="Calibri" pitchFamily="34" charset="0"/>
                          <a:ea typeface="Calibri" pitchFamily="34" charset="-122"/>
                          <a:cs typeface="Calibri" pitchFamily="34" charset="-120"/>
                        </a:rPr>
                        <a:t>Travel posters</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Aspirational framing, destination romance</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Dated illustration style</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tcPr>
                </a:tc>
              </a:tr>
              <a:tr h="246888">
                <a:tc>
                  <a:txBody>
                    <a:bodyPr/>
                    <a:lstStyle/>
                    <a:p>
                      <a:pPr indent="0" marL="0">
                        <a:buNone/>
                      </a:pPr>
                      <a:r>
                        <a:rPr lang="en-US" sz="1000" b="1" dirty="0">
                          <a:solidFill>
                            <a:srgbClr val="1A2D4A"/>
                          </a:solidFill>
                          <a:latin typeface="Calibri" pitchFamily="34" charset="0"/>
                          <a:ea typeface="Calibri" pitchFamily="34" charset="-122"/>
                          <a:cs typeface="Calibri" pitchFamily="34" charset="-120"/>
                        </a:rPr>
                        <a:t>Matisse cutouts</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Organic shapes, color joy, handmade warmth</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Fine art preciousness</a:t>
                      </a:r>
                      <a:endParaRPr lang="en-US" sz="1000" dirty="0">
                        <a:latin typeface="Calibri" charset="0"/>
                        <a:ea typeface="Calibri" charset="0"/>
                        <a:cs typeface="Calibri" charset="0"/>
                      </a:endParaRPr>
                    </a:p>
                  </a:txBody>
                  <a:tcPr marL="91440" marR="91440" marT="45720" marB="45720">
                    <a:lnL w="3810" cap="flat" cmpd="sng" algn="ctr">
                      <a:solidFill>
                        <a:srgbClr val="E0D8CE"/>
                      </a:solidFill>
                      <a:prstDash val="solid"/>
                      <a:round/>
                      <a:headEnd type="none" w="med" len="med"/>
                      <a:tailEnd type="none" w="med" len="med"/>
                    </a:lnL>
                    <a:lnR w="3810" cap="flat" cmpd="sng" algn="ctr">
                      <a:solidFill>
                        <a:srgbClr val="E0D8CE"/>
                      </a:solidFill>
                      <a:prstDash val="solid"/>
                      <a:round/>
                      <a:headEnd type="none" w="med" len="med"/>
                      <a:tailEnd type="none" w="med" len="med"/>
                    </a:lnR>
                    <a:lnT w="3810" cap="flat" cmpd="sng" algn="ctr">
                      <a:solidFill>
                        <a:srgbClr val="E0D8CE"/>
                      </a:solidFill>
                      <a:prstDash val="solid"/>
                      <a:round/>
                      <a:headEnd type="none" w="med" len="med"/>
                      <a:tailEnd type="none" w="med" len="med"/>
                    </a:lnT>
                    <a:lnB w="3810" cap="flat" cmpd="sng" algn="ctr">
                      <a:solidFill>
                        <a:srgbClr val="E0D8CE"/>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D4A"/>
        </a:solidFill>
      </p:bgPr>
    </p:bg>
    <p:spTree>
      <p:nvGrpSpPr>
        <p:cNvPr id="1" name=""/>
        <p:cNvGrpSpPr/>
        <p:nvPr/>
      </p:nvGrpSpPr>
      <p:grpSpPr>
        <a:xfrm>
          <a:off x="0" y="0"/>
          <a:ext cx="0" cy="0"/>
          <a:chOff x="0" y="0"/>
          <a:chExt cx="0" cy="0"/>
        </a:xfrm>
      </p:grpSpPr>
      <p:sp>
        <p:nvSpPr>
          <p:cNvPr id="2" name="Shape 0"/>
          <p:cNvSpPr/>
          <p:nvPr/>
        </p:nvSpPr>
        <p:spPr>
          <a:xfrm>
            <a:off x="5943600" y="1828800"/>
            <a:ext cx="4572000" cy="4572000"/>
          </a:xfrm>
          <a:prstGeom prst="ellipse">
            <a:avLst/>
          </a:prstGeom>
          <a:solidFill>
            <a:srgbClr val="E86F5A">
              <a:alpha val="80000"/>
            </a:srgbClr>
          </a:solidFill>
          <a:ln/>
        </p:spPr>
      </p:sp>
      <p:sp>
        <p:nvSpPr>
          <p:cNvPr id="3" name="Shape 1"/>
          <p:cNvSpPr/>
          <p:nvPr/>
        </p:nvSpPr>
        <p:spPr>
          <a:xfrm>
            <a:off x="6858000" y="-1371600"/>
            <a:ext cx="2743200" cy="2743200"/>
          </a:xfrm>
          <a:prstGeom prst="ellipse">
            <a:avLst/>
          </a:prstGeom>
          <a:solidFill>
            <a:srgbClr val="5EC4B2">
              <a:alpha val="70000"/>
            </a:srgbClr>
          </a:solidFill>
          <a:ln/>
        </p:spPr>
      </p:sp>
      <p:sp>
        <p:nvSpPr>
          <p:cNvPr id="4" name="Text 2"/>
          <p:cNvSpPr/>
          <p:nvPr/>
        </p:nvSpPr>
        <p:spPr>
          <a:xfrm>
            <a:off x="731520" y="1645920"/>
            <a:ext cx="5486400" cy="137160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Brand in Action</a:t>
            </a:r>
            <a:endParaRPr lang="en-US" sz="4800" dirty="0"/>
          </a:p>
        </p:txBody>
      </p:sp>
      <p:sp>
        <p:nvSpPr>
          <p:cNvPr id="5" name="Text 3"/>
          <p:cNvSpPr/>
          <p:nvPr/>
        </p:nvSpPr>
        <p:spPr>
          <a:xfrm>
            <a:off x="731520" y="2926080"/>
            <a:ext cx="5486400" cy="731520"/>
          </a:xfrm>
          <a:prstGeom prst="rect">
            <a:avLst/>
          </a:prstGeom>
          <a:noFill/>
          <a:ln/>
        </p:spPr>
        <p:txBody>
          <a:bodyPr wrap="square" lIns="0" tIns="0" rIns="0" bIns="0" rtlCol="0" anchor="ctr"/>
          <a:lstStyle/>
          <a:p>
            <a:pPr indent="0" marL="0">
              <a:lnSpc>
                <a:spcPct val="130000"/>
              </a:lnSpc>
              <a:buNone/>
            </a:pPr>
            <a:r>
              <a:rPr lang="en-US" sz="1200" dirty="0">
                <a:solidFill>
                  <a:srgbClr val="F4BFA0"/>
                </a:solidFill>
                <a:latin typeface="Calibri" pitchFamily="34" charset="0"/>
                <a:ea typeface="Calibri" pitchFamily="34" charset="-122"/>
                <a:cs typeface="Calibri" pitchFamily="34" charset="-120"/>
              </a:rPr>
              <a:t>Poster designs from the Terrazzo mood board collection — showcasing how the Kinetic Dreamer aesthetic translates across bold geometric compositions, travel narratives, and brand identity applications.</a:t>
            </a:r>
            <a:endParaRPr lang="en-US" sz="1200" dirty="0"/>
          </a:p>
        </p:txBody>
      </p:sp>
      <p:sp>
        <p:nvSpPr>
          <p:cNvPr id="6" name="Shape 4"/>
          <p:cNvSpPr/>
          <p:nvPr/>
        </p:nvSpPr>
        <p:spPr>
          <a:xfrm>
            <a:off x="731520" y="3474720"/>
            <a:ext cx="2377440" cy="1371600"/>
          </a:xfrm>
          <a:prstGeom prst="rect">
            <a:avLst/>
          </a:prstGeom>
          <a:solidFill>
            <a:srgbClr val="E86F5A"/>
          </a:solidFill>
          <a:ln/>
        </p:spPr>
      </p:sp>
      <p:sp>
        <p:nvSpPr>
          <p:cNvPr id="7" name="Shape 5"/>
          <p:cNvSpPr/>
          <p:nvPr/>
        </p:nvSpPr>
        <p:spPr>
          <a:xfrm>
            <a:off x="2011680" y="3931920"/>
            <a:ext cx="914400" cy="914400"/>
          </a:xfrm>
          <a:prstGeom prst="ellipse">
            <a:avLst/>
          </a:prstGeom>
          <a:solidFill>
            <a:srgbClr val="E8B84B">
              <a:alpha val="60000"/>
            </a:srgbClr>
          </a:solidFill>
          <a:ln/>
        </p:spPr>
      </p:sp>
      <p:sp>
        <p:nvSpPr>
          <p:cNvPr id="8" name="Text 6"/>
          <p:cNvSpPr/>
          <p:nvPr/>
        </p:nvSpPr>
        <p:spPr>
          <a:xfrm>
            <a:off x="868680" y="3566160"/>
            <a:ext cx="2103120" cy="64008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Striking Modern</a:t>
            </a:r>
            <a:endParaRPr lang="en-US" sz="1200" dirty="0"/>
          </a:p>
          <a:p>
            <a:pPr indent="0" marL="0">
              <a:buNone/>
            </a:pPr>
            <a:r>
              <a:rPr lang="en-US" sz="1200" b="1" dirty="0">
                <a:solidFill>
                  <a:srgbClr val="FFFFFF"/>
                </a:solidFill>
                <a:latin typeface="Georgia" pitchFamily="34" charset="0"/>
                <a:ea typeface="Georgia" pitchFamily="34" charset="-122"/>
                <a:cs typeface="Georgia" pitchFamily="34" charset="-120"/>
              </a:rPr>
              <a:t>Cover</a:t>
            </a:r>
            <a:endParaRPr lang="en-US" sz="1200" dirty="0"/>
          </a:p>
        </p:txBody>
      </p:sp>
      <p:sp>
        <p:nvSpPr>
          <p:cNvPr id="9" name="Shape 7"/>
          <p:cNvSpPr/>
          <p:nvPr/>
        </p:nvSpPr>
        <p:spPr>
          <a:xfrm>
            <a:off x="3474720" y="3474720"/>
            <a:ext cx="2377440" cy="1371600"/>
          </a:xfrm>
          <a:prstGeom prst="rect">
            <a:avLst/>
          </a:prstGeom>
          <a:solidFill>
            <a:srgbClr val="5EC4B2"/>
          </a:solidFill>
          <a:ln/>
        </p:spPr>
      </p:sp>
      <p:sp>
        <p:nvSpPr>
          <p:cNvPr id="10" name="Shape 8"/>
          <p:cNvSpPr/>
          <p:nvPr/>
        </p:nvSpPr>
        <p:spPr>
          <a:xfrm>
            <a:off x="4754880" y="3931920"/>
            <a:ext cx="914400" cy="914400"/>
          </a:xfrm>
          <a:prstGeom prst="ellipse">
            <a:avLst/>
          </a:prstGeom>
          <a:solidFill>
            <a:srgbClr val="1A2D4A">
              <a:alpha val="60000"/>
            </a:srgbClr>
          </a:solidFill>
          <a:ln/>
        </p:spPr>
      </p:sp>
      <p:sp>
        <p:nvSpPr>
          <p:cNvPr id="11" name="Text 9"/>
          <p:cNvSpPr/>
          <p:nvPr/>
        </p:nvSpPr>
        <p:spPr>
          <a:xfrm>
            <a:off x="3611880" y="3566160"/>
            <a:ext cx="2103120" cy="64008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Velocity &amp;</a:t>
            </a:r>
            <a:endParaRPr lang="en-US" sz="1200" dirty="0"/>
          </a:p>
          <a:p>
            <a:pPr indent="0" marL="0">
              <a:buNone/>
            </a:pPr>
            <a:r>
              <a:rPr lang="en-US" sz="1200" b="1" dirty="0">
                <a:solidFill>
                  <a:srgbClr val="FFFFFF"/>
                </a:solidFill>
                <a:latin typeface="Georgia" pitchFamily="34" charset="0"/>
                <a:ea typeface="Georgia" pitchFamily="34" charset="-122"/>
                <a:cs typeface="Georgia" pitchFamily="34" charset="-120"/>
              </a:rPr>
              <a:t>The Grand Tour</a:t>
            </a:r>
            <a:endParaRPr lang="en-US" sz="1200" dirty="0"/>
          </a:p>
        </p:txBody>
      </p:sp>
      <p:sp>
        <p:nvSpPr>
          <p:cNvPr id="12" name="Shape 10"/>
          <p:cNvSpPr/>
          <p:nvPr/>
        </p:nvSpPr>
        <p:spPr>
          <a:xfrm>
            <a:off x="6217920" y="3474720"/>
            <a:ext cx="2377440" cy="1371600"/>
          </a:xfrm>
          <a:prstGeom prst="rect">
            <a:avLst/>
          </a:prstGeom>
          <a:solidFill>
            <a:srgbClr val="1A2D4A"/>
          </a:solidFill>
          <a:ln/>
        </p:spPr>
      </p:sp>
      <p:sp>
        <p:nvSpPr>
          <p:cNvPr id="13" name="Shape 11"/>
          <p:cNvSpPr/>
          <p:nvPr/>
        </p:nvSpPr>
        <p:spPr>
          <a:xfrm>
            <a:off x="7498080" y="3931920"/>
            <a:ext cx="914400" cy="914400"/>
          </a:xfrm>
          <a:prstGeom prst="ellipse">
            <a:avLst/>
          </a:prstGeom>
          <a:solidFill>
            <a:srgbClr val="E86F5A">
              <a:alpha val="60000"/>
            </a:srgbClr>
          </a:solidFill>
          <a:ln/>
        </p:spPr>
      </p:sp>
      <p:sp>
        <p:nvSpPr>
          <p:cNvPr id="14" name="Text 12"/>
          <p:cNvSpPr/>
          <p:nvPr/>
        </p:nvSpPr>
        <p:spPr>
          <a:xfrm>
            <a:off x="6355080" y="3566160"/>
            <a:ext cx="2103120" cy="64008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Bold Typography</a:t>
            </a:r>
            <a:endParaRPr lang="en-US" sz="1200" dirty="0"/>
          </a:p>
          <a:p>
            <a:pPr indent="0" marL="0">
              <a:buNone/>
            </a:pPr>
            <a:r>
              <a:rPr lang="en-US" sz="1200" b="1" dirty="0">
                <a:solidFill>
                  <a:srgbClr val="FFFFFF"/>
                </a:solidFill>
                <a:latin typeface="Georgia" pitchFamily="34" charset="0"/>
                <a:ea typeface="Georgia" pitchFamily="34" charset="-122"/>
                <a:cs typeface="Georgia" pitchFamily="34" charset="-120"/>
              </a:rPr>
              <a:t>in Motion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2D4A"/>
        </a:solidFill>
      </p:bgPr>
    </p:bg>
    <p:spTree>
      <p:nvGrpSpPr>
        <p:cNvPr id="1" name=""/>
        <p:cNvGrpSpPr/>
        <p:nvPr/>
      </p:nvGrpSpPr>
      <p:grpSpPr>
        <a:xfrm>
          <a:off x="0" y="0"/>
          <a:ext cx="0" cy="0"/>
          <a:chOff x="0" y="0"/>
          <a:chExt cx="0" cy="0"/>
        </a:xfrm>
      </p:grpSpPr>
      <p:sp>
        <p:nvSpPr>
          <p:cNvPr id="2" name="Text 0"/>
          <p:cNvSpPr/>
          <p:nvPr/>
        </p:nvSpPr>
        <p:spPr>
          <a:xfrm>
            <a:off x="731520" y="1371600"/>
            <a:ext cx="7680960" cy="914400"/>
          </a:xfrm>
          <a:prstGeom prst="rect">
            <a:avLst/>
          </a:prstGeom>
          <a:noFill/>
          <a:ln/>
        </p:spPr>
        <p:txBody>
          <a:bodyPr wrap="square" lIns="0" tIns="0" rIns="0" bIns="0" rtlCol="0" anchor="ctr"/>
          <a:lstStyle/>
          <a:p>
            <a:pPr algn="ctr" indent="0" marL="0">
              <a:buNone/>
            </a:pPr>
            <a:r>
              <a:rPr lang="en-US" sz="5200" b="1" spc="600" kern="0" dirty="0">
                <a:solidFill>
                  <a:srgbClr val="FFFFFF"/>
                </a:solidFill>
                <a:latin typeface="Georgia" pitchFamily="34" charset="0"/>
                <a:ea typeface="Georgia" pitchFamily="34" charset="-122"/>
                <a:cs typeface="Georgia" pitchFamily="34" charset="-120"/>
              </a:rPr>
              <a:t>TERRAZZO</a:t>
            </a:r>
            <a:endParaRPr lang="en-US" sz="5200" dirty="0"/>
          </a:p>
        </p:txBody>
      </p:sp>
      <p:sp>
        <p:nvSpPr>
          <p:cNvPr id="3" name="Shape 1"/>
          <p:cNvSpPr/>
          <p:nvPr/>
        </p:nvSpPr>
        <p:spPr>
          <a:xfrm>
            <a:off x="3200400" y="2377440"/>
            <a:ext cx="2743200" cy="0"/>
          </a:xfrm>
          <a:prstGeom prst="line">
            <a:avLst/>
          </a:prstGeom>
          <a:noFill/>
          <a:ln w="25400">
            <a:solidFill>
              <a:srgbClr val="E86F5A"/>
            </a:solidFill>
            <a:prstDash val="solid"/>
          </a:ln>
        </p:spPr>
      </p:sp>
      <p:sp>
        <p:nvSpPr>
          <p:cNvPr id="4" name="Text 2"/>
          <p:cNvSpPr/>
          <p:nvPr/>
        </p:nvSpPr>
        <p:spPr>
          <a:xfrm>
            <a:off x="731520" y="2560320"/>
            <a:ext cx="7680960" cy="365760"/>
          </a:xfrm>
          <a:prstGeom prst="rect">
            <a:avLst/>
          </a:prstGeom>
          <a:noFill/>
          <a:ln/>
        </p:spPr>
        <p:txBody>
          <a:bodyPr wrap="square" lIns="0" tIns="0" rIns="0" bIns="0" rtlCol="0" anchor="ctr"/>
          <a:lstStyle/>
          <a:p>
            <a:pPr algn="ctr" indent="0" marL="0">
              <a:buNone/>
            </a:pPr>
            <a:r>
              <a:rPr lang="en-US" sz="1600" spc="400" kern="0" dirty="0">
                <a:solidFill>
                  <a:srgbClr val="E86F5A"/>
                </a:solidFill>
                <a:latin typeface="Calibri" pitchFamily="34" charset="0"/>
                <a:ea typeface="Calibri" pitchFamily="34" charset="-122"/>
                <a:cs typeface="Calibri" pitchFamily="34" charset="-120"/>
              </a:rPr>
              <a:t>KINETIC DREAMER</a:t>
            </a:r>
            <a:endParaRPr lang="en-US" sz="1600" dirty="0"/>
          </a:p>
        </p:txBody>
      </p:sp>
      <p:sp>
        <p:nvSpPr>
          <p:cNvPr id="5" name="Text 3"/>
          <p:cNvSpPr/>
          <p:nvPr/>
        </p:nvSpPr>
        <p:spPr>
          <a:xfrm>
            <a:off x="731520" y="3840480"/>
            <a:ext cx="7680960" cy="548640"/>
          </a:xfrm>
          <a:prstGeom prst="rect">
            <a:avLst/>
          </a:prstGeom>
          <a:noFill/>
          <a:ln/>
        </p:spPr>
        <p:txBody>
          <a:bodyPr wrap="square" lIns="0" tIns="0" rIns="0" bIns="0" rtlCol="0" anchor="ctr"/>
          <a:lstStyle/>
          <a:p>
            <a:pPr algn="ctr" indent="0" marL="0">
              <a:lnSpc>
                <a:spcPct val="140000"/>
              </a:lnSpc>
              <a:buNone/>
            </a:pPr>
            <a:r>
              <a:rPr lang="en-US" sz="900" dirty="0">
                <a:solidFill>
                  <a:srgbClr val="A89888"/>
                </a:solidFill>
                <a:latin typeface="Calibri" pitchFamily="34" charset="0"/>
                <a:ea typeface="Calibri" pitchFamily="34" charset="-122"/>
                <a:cs typeface="Calibri" pitchFamily="34" charset="-120"/>
              </a:rPr>
              <a:t>Terrazzo — Kinetic Dreamer — Brand Identity Guide — March 2026</a:t>
            </a:r>
            <a:endParaRPr lang="en-US" sz="900" dirty="0"/>
          </a:p>
          <a:p>
            <a:pPr algn="ctr" indent="0" marL="0">
              <a:lnSpc>
                <a:spcPct val="140000"/>
              </a:lnSpc>
              <a:buNone/>
            </a:pPr>
            <a:r>
              <a:rPr lang="en-US" sz="900" dirty="0">
                <a:solidFill>
                  <a:srgbClr val="A89888"/>
                </a:solidFill>
                <a:latin typeface="Calibri" pitchFamily="34" charset="0"/>
                <a:ea typeface="Calibri" pitchFamily="34" charset="-122"/>
                <a:cs typeface="Calibri" pitchFamily="34" charset="-120"/>
              </a:rPr>
              <a:t>This document is confidential and intended for internal use.</a:t>
            </a:r>
            <a:endParaRPr lang="en-US" sz="900" dirty="0"/>
          </a:p>
        </p:txBody>
      </p:sp>
      <p:sp>
        <p:nvSpPr>
          <p:cNvPr id="6" name="Shape 4"/>
          <p:cNvSpPr/>
          <p:nvPr/>
        </p:nvSpPr>
        <p:spPr>
          <a:xfrm>
            <a:off x="-914400" y="3200400"/>
            <a:ext cx="2743200" cy="2743200"/>
          </a:xfrm>
          <a:prstGeom prst="ellipse">
            <a:avLst/>
          </a:prstGeom>
          <a:solidFill>
            <a:srgbClr val="E86F5A">
              <a:alpha val="70000"/>
            </a:srgbClr>
          </a:solidFill>
          <a:ln/>
        </p:spPr>
      </p:sp>
      <p:sp>
        <p:nvSpPr>
          <p:cNvPr id="7" name="Shape 5"/>
          <p:cNvSpPr/>
          <p:nvPr/>
        </p:nvSpPr>
        <p:spPr>
          <a:xfrm>
            <a:off x="7772400" y="-914400"/>
            <a:ext cx="2286000" cy="2286000"/>
          </a:xfrm>
          <a:prstGeom prst="ellipse">
            <a:avLst/>
          </a:prstGeom>
          <a:solidFill>
            <a:srgbClr val="5EC4B2">
              <a:alpha val="65000"/>
            </a:srgbClr>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Terrazzo Brand Identity Guide</dc:title>
  <dc:subject>PptxGenJS Presentation</dc:subject>
  <dc:creator>Terrazzo</dc:creator>
  <cp:lastModifiedBy>Terrazzo</cp:lastModifiedBy>
  <cp:revision>1</cp:revision>
  <dcterms:created xsi:type="dcterms:W3CDTF">2026-03-13T17:09:16Z</dcterms:created>
  <dcterms:modified xsi:type="dcterms:W3CDTF">2026-03-13T17:09:16Z</dcterms:modified>
</cp:coreProperties>
</file>