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6177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C4B8A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6177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C4B8A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E86F5A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2286000"/>
            <a:ext cx="5029200" cy="5029200"/>
          </a:xfrm>
          <a:prstGeom prst="ellipse">
            <a:avLst/>
          </a:prstGeom>
          <a:solidFill>
            <a:srgbClr val="5EC4B2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0" y="-1828800"/>
            <a:ext cx="3657600" cy="3657600"/>
          </a:xfrm>
          <a:prstGeom prst="ellipse">
            <a:avLst/>
          </a:prstGeom>
          <a:solidFill>
            <a:srgbClr val="E8B84B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BF5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TERRAZZO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B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Identity &amp; Positioning Guide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C4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KINETIC DREAMER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2026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BF5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BF5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7132320" y="274320"/>
            <a:ext cx="2286000" cy="2286000"/>
          </a:xfrm>
          <a:prstGeom prst="ellipse">
            <a:avLst/>
          </a:prstGeom>
          <a:solidFill>
            <a:srgbClr val="E86F5A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2743200"/>
            <a:ext cx="1645920" cy="1645920"/>
          </a:xfrm>
          <a:prstGeom prst="ellipse">
            <a:avLst/>
          </a:prstGeom>
          <a:solidFill>
            <a:srgbClr val="5EC4B2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617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1828800" y="4617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TERRAZZO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6177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899A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617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C4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600" dirty="0"/>
          </a:p>
        </p:txBody>
      </p:sp>
      <p:sp>
        <p:nvSpPr>
          <p:cNvPr id="3" name="Text 1"/>
          <p:cNvSpPr/>
          <p:nvPr/>
        </p:nvSpPr>
        <p:spPr>
          <a:xfrm>
            <a:off x="1828800" y="4617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C4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TERRAZZO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1A2D4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F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TERRAZZO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travel app for the culturally curious. Terrazzo combines taste intelligence with editorial curation to help design-minded travelers discover places that match how they actually experience the world.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1A2D4A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6974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F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ONE-LINER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3063240"/>
            <a:ext cx="3931920" cy="731520"/>
          </a:xfrm>
          <a:prstGeom prst="roundRect">
            <a:avLst>
              <a:gd name="adj" fmla="val 7500"/>
            </a:avLst>
          </a:prstGeom>
          <a:solidFill>
            <a:srgbClr val="F4BFA0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1089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A2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"Travel like it's a masterpiece in motion."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1005840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1A2D4A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0058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F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IT'S FOR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46320" y="141732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Design-minded travelers aged 25-40 who treat every trip like a canvas. They care about architecture, food culture, local art, and hidden corners more than tourist checkpoints.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2697480"/>
            <a:ext cx="3931920" cy="1828800"/>
          </a:xfrm>
          <a:prstGeom prst="rect">
            <a:avLst/>
          </a:prstGeom>
          <a:solidFill>
            <a:srgbClr val="F5F0E8"/>
          </a:solidFill>
          <a:ln w="19050">
            <a:solidFill>
              <a:srgbClr val="A89888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846320" y="3474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7B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Kinetic Dreamer poster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6177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C4B8A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617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C4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600" dirty="0"/>
          </a:p>
        </p:txBody>
      </p:sp>
      <p:sp>
        <p:nvSpPr>
          <p:cNvPr id="3" name="Text 1"/>
          <p:cNvSpPr/>
          <p:nvPr/>
        </p:nvSpPr>
        <p:spPr>
          <a:xfrm>
            <a:off x="1828800" y="4617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C4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TERRAZZO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Creative Direction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1A2D4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F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KINETIC DREAMER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Terrazzo visual identity fuses Italian Futurism (think Depero) with mid-century travel poster warmth. Bold geometric abstraction meets organic cutouts and textural warmth — creating a language that feels both timeless and electric.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834640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1A2D4A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8346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F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 NOT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6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Not minimalist tech (no flat gray interfaces)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6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Not Swiss grid modernism (no rigid geometry)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8862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6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Not nostalgic retro (no faded, ironic vintage)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937760" y="914400"/>
            <a:ext cx="3840480" cy="3474720"/>
          </a:xfrm>
          <a:prstGeom prst="rect">
            <a:avLst/>
          </a:prstGeom>
          <a:solidFill>
            <a:srgbClr val="F5F0E8"/>
          </a:solidFill>
          <a:ln w="19050">
            <a:solidFill>
              <a:srgbClr val="A89888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937760" y="2514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7B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direction mood board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6177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C4B8A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617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C4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600" dirty="0"/>
          </a:p>
        </p:txBody>
      </p:sp>
      <p:sp>
        <p:nvSpPr>
          <p:cNvPr id="3" name="Text 1"/>
          <p:cNvSpPr/>
          <p:nvPr/>
        </p:nvSpPr>
        <p:spPr>
          <a:xfrm>
            <a:off x="1828800" y="4617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C4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TERRAZZO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Principles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28600" cy="228600"/>
          </a:xfrm>
          <a:prstGeom prst="ellipse">
            <a:avLst/>
          </a:prstGeom>
          <a:solidFill>
            <a:srgbClr val="E86F5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Bold Geometric Abstraction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Flat, layered shapes that suggest motion and place without being literal. Circles, arcs, and angular forms overlap to build visual rhythm.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228600" cy="228600"/>
          </a:xfrm>
          <a:prstGeom prst="ellipse">
            <a:avLst/>
          </a:prstGeom>
          <a:solidFill>
            <a:srgbClr val="1A2D4A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 Tension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0" y="13716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Compositions feel alive — tilted angles, overlapping planes, diagonal energy. Nothing sits static.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971800"/>
            <a:ext cx="228600" cy="228600"/>
          </a:xfrm>
          <a:prstGeom prst="ellipse">
            <a:avLst/>
          </a:prstGeom>
          <a:solidFill>
            <a:srgbClr val="5EC4B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Organic Cutouts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2918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Inspired by Matisse and mid-century collage. Freeform shapes add warmth and playfulness to geometric structures.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2971800"/>
            <a:ext cx="228600" cy="228600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Textural Warmth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20640" y="32918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Subtle grain, paper texture, and matte finishes give digital surfaces a handmade quality that invites touch.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6177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C4B8A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617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C4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600" dirty="0"/>
          </a:p>
        </p:txBody>
      </p:sp>
      <p:sp>
        <p:nvSpPr>
          <p:cNvPr id="3" name="Text 1"/>
          <p:cNvSpPr/>
          <p:nvPr/>
        </p:nvSpPr>
        <p:spPr>
          <a:xfrm>
            <a:off x="1828800" y="4617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C4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TERRAZZO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Personality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Terrazzo were a person, they'd be the friend who always knows the best neighborhood restaurant, has an opinion about typefaces, and plans trips around gallery openings.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737360"/>
            <a:ext cx="1536192" cy="2560320"/>
          </a:xfrm>
          <a:prstGeom prst="roundRect">
            <a:avLst>
              <a:gd name="adj" fmla="val 4762"/>
            </a:avLst>
          </a:prstGeom>
          <a:solidFill>
            <a:srgbClr val="E86F5A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920240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5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Adventurous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" y="2468880"/>
            <a:ext cx="131673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BF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Seeks the unknown, embraces serendipity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02536" y="1737360"/>
            <a:ext cx="1536192" cy="2560320"/>
          </a:xfrm>
          <a:prstGeom prst="roundRect">
            <a:avLst>
              <a:gd name="adj" fmla="val 4762"/>
            </a:avLst>
          </a:prstGeom>
          <a:solidFill>
            <a:srgbClr val="1A2D4A"/>
          </a:solidFill>
          <a:ln/>
        </p:spPr>
      </p:sp>
      <p:sp>
        <p:nvSpPr>
          <p:cNvPr id="10" name="Text 8"/>
          <p:cNvSpPr/>
          <p:nvPr/>
        </p:nvSpPr>
        <p:spPr>
          <a:xfrm>
            <a:off x="2002536" y="1920240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5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Cultivated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12264" y="2468880"/>
            <a:ext cx="131673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BF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Knows quality, appreciates craft and context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76472" y="1737360"/>
            <a:ext cx="1536192" cy="2560320"/>
          </a:xfrm>
          <a:prstGeom prst="roundRect">
            <a:avLst>
              <a:gd name="adj" fmla="val 4762"/>
            </a:avLst>
          </a:prstGeom>
          <a:solidFill>
            <a:srgbClr val="E8B84B"/>
          </a:solidFill>
          <a:ln/>
        </p:spPr>
      </p:sp>
      <p:sp>
        <p:nvSpPr>
          <p:cNvPr id="13" name="Text 11"/>
          <p:cNvSpPr/>
          <p:nvPr/>
        </p:nvSpPr>
        <p:spPr>
          <a:xfrm>
            <a:off x="3776472" y="1920240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5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Energetic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86200" y="2468880"/>
            <a:ext cx="131673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BF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Vibrant, forward-moving, never passive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50408" y="1737360"/>
            <a:ext cx="1536192" cy="2560320"/>
          </a:xfrm>
          <a:prstGeom prst="roundRect">
            <a:avLst>
              <a:gd name="adj" fmla="val 4762"/>
            </a:avLst>
          </a:prstGeom>
          <a:solidFill>
            <a:srgbClr val="5EC4B2"/>
          </a:solidFill>
          <a:ln/>
        </p:spPr>
      </p:sp>
      <p:sp>
        <p:nvSpPr>
          <p:cNvPr id="16" name="Text 14"/>
          <p:cNvSpPr/>
          <p:nvPr/>
        </p:nvSpPr>
        <p:spPr>
          <a:xfrm>
            <a:off x="5550408" y="1920240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5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0136" y="2468880"/>
            <a:ext cx="131673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BF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Inclusive, generous, never elitist or cold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24344" y="1737360"/>
            <a:ext cx="1536192" cy="2560320"/>
          </a:xfrm>
          <a:prstGeom prst="roundRect">
            <a:avLst>
              <a:gd name="adj" fmla="val 4762"/>
            </a:avLst>
          </a:prstGeom>
          <a:solidFill>
            <a:srgbClr val="6B7C4E"/>
          </a:solidFill>
          <a:ln/>
        </p:spPr>
      </p:sp>
      <p:sp>
        <p:nvSpPr>
          <p:cNvPr id="19" name="Text 17"/>
          <p:cNvSpPr/>
          <p:nvPr/>
        </p:nvSpPr>
        <p:spPr>
          <a:xfrm>
            <a:off x="7324344" y="1920240"/>
            <a:ext cx="15361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F5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Opinionated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34072" y="2468880"/>
            <a:ext cx="131673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BF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a point of view; curates, doesn't aggregate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6177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C4B8A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6F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BF5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Tone of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BF5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7132320" y="274320"/>
            <a:ext cx="2286000" cy="2286000"/>
          </a:xfrm>
          <a:prstGeom prst="ellipse">
            <a:avLst/>
          </a:prstGeom>
          <a:solidFill>
            <a:srgbClr val="1A2D4A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2743200"/>
            <a:ext cx="1645920" cy="1645920"/>
          </a:xfrm>
          <a:prstGeom prst="ellipse">
            <a:avLst/>
          </a:prstGeom>
          <a:solidFill>
            <a:srgbClr val="5EC4B2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617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1828800" y="4617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TERRAZZO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6177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899A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617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C4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600" dirty="0"/>
          </a:p>
        </p:txBody>
      </p:sp>
      <p:sp>
        <p:nvSpPr>
          <p:cNvPr id="3" name="Text 1"/>
          <p:cNvSpPr/>
          <p:nvPr/>
        </p:nvSpPr>
        <p:spPr>
          <a:xfrm>
            <a:off x="1828800" y="4617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C4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TERRAZZO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Tone of Voice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1A2D4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F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PRINCIPLES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Vivid</a:t>
            </a:r>
            <a:pPr indent="0" marL="0">
              <a:buNone/>
            </a:pPr>
            <a:r>
              <a:rPr lang="en-US" sz="1200" dirty="0">
                <a:solidFill>
                  <a:srgbClr val="A8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over vague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</a:t>
            </a:r>
            <a:pPr indent="0" marL="0">
              <a:buNone/>
            </a:pPr>
            <a:r>
              <a:rPr lang="en-US" sz="1200" dirty="0">
                <a:solidFill>
                  <a:srgbClr val="A8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over cautious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06654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</a:t>
            </a:r>
            <a:pPr indent="0" marL="0">
              <a:buNone/>
            </a:pPr>
            <a:r>
              <a:rPr lang="en-US" sz="1200" dirty="0">
                <a:solidFill>
                  <a:srgbClr val="A8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over corporate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41401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</a:t>
            </a:r>
            <a:pPr indent="0" marL="0">
              <a:buNone/>
            </a:pPr>
            <a:r>
              <a:rPr lang="en-US" sz="1200" dirty="0">
                <a:solidFill>
                  <a:srgbClr val="A8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over sprawling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7614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Playful</a:t>
            </a:r>
            <a:pPr indent="0" marL="0">
              <a:buNone/>
            </a:pPr>
            <a:r>
              <a:rPr lang="en-US" sz="1200" dirty="0">
                <a:solidFill>
                  <a:srgbClr val="A8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over precious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960120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1A2D4A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96012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F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858000" y="960120"/>
            <a:ext cx="731520" cy="256032"/>
          </a:xfrm>
          <a:prstGeom prst="roundRect">
            <a:avLst>
              <a:gd name="adj" fmla="val 14286"/>
            </a:avLst>
          </a:prstGeom>
          <a:solidFill>
            <a:srgbClr val="1A2D4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960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F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846320" y="1371600"/>
            <a:ext cx="1920240" cy="594360"/>
          </a:xfrm>
          <a:prstGeom prst="roundRect">
            <a:avLst>
              <a:gd name="adj" fmla="val 6154"/>
            </a:avLst>
          </a:prstGeom>
          <a:solidFill>
            <a:srgbClr val="5EC4B2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13716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"Your next obsession starts in Trastevere."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58000" y="1371600"/>
            <a:ext cx="1920240" cy="594360"/>
          </a:xfrm>
          <a:prstGeom prst="roundRect">
            <a:avLst>
              <a:gd name="adj" fmla="val 6154"/>
            </a:avLst>
          </a:prstGeom>
          <a:solidFill>
            <a:srgbClr val="E86F5A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13716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"Check out restaurants in Rome."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46320" y="2057400"/>
            <a:ext cx="1920240" cy="594360"/>
          </a:xfrm>
          <a:prstGeom prst="roundRect">
            <a:avLst>
              <a:gd name="adj" fmla="val 6154"/>
            </a:avLst>
          </a:prstGeom>
          <a:solidFill>
            <a:srgbClr val="5EC4B2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0574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"Skip the line. Find the alley."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58000" y="2057400"/>
            <a:ext cx="1920240" cy="594360"/>
          </a:xfrm>
          <a:prstGeom prst="roundRect">
            <a:avLst>
              <a:gd name="adj" fmla="val 6154"/>
            </a:avLst>
          </a:prstGeom>
          <a:solidFill>
            <a:srgbClr val="E86F5A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20574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offer curated travel experiences."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2743200"/>
            <a:ext cx="1920240" cy="594360"/>
          </a:xfrm>
          <a:prstGeom prst="roundRect">
            <a:avLst>
              <a:gd name="adj" fmla="val 6154"/>
            </a:avLst>
          </a:prstGeom>
          <a:solidFill>
            <a:srgbClr val="5EC4B2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27432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wine bar that feels like a secret."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58000" y="2743200"/>
            <a:ext cx="1920240" cy="594360"/>
          </a:xfrm>
          <a:prstGeom prst="roundRect">
            <a:avLst>
              <a:gd name="adj" fmla="val 6154"/>
            </a:avLst>
          </a:prstGeom>
          <a:solidFill>
            <a:srgbClr val="E86F5A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903720" y="27432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"Highly rated establishment with 4.5 stars."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6177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C4B8A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B7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BF5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Color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BF5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Palette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7132320" y="274320"/>
            <a:ext cx="2286000" cy="2286000"/>
          </a:xfrm>
          <a:prstGeom prst="ellipse">
            <a:avLst/>
          </a:prstGeom>
          <a:solidFill>
            <a:srgbClr val="1A2D4A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2743200"/>
            <a:ext cx="1645920" cy="1645920"/>
          </a:xfrm>
          <a:prstGeom prst="ellipse">
            <a:avLst/>
          </a:prstGeom>
          <a:solidFill>
            <a:srgbClr val="5EC4B2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617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1828800" y="4617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TERRAZZO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6177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899A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617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C4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600" dirty="0"/>
          </a:p>
        </p:txBody>
      </p:sp>
      <p:sp>
        <p:nvSpPr>
          <p:cNvPr id="3" name="Text 1"/>
          <p:cNvSpPr/>
          <p:nvPr/>
        </p:nvSpPr>
        <p:spPr>
          <a:xfrm>
            <a:off x="1828800" y="4617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C4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TERRAZZO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Colors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E86F5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875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F5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F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#E86F5A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91440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1A2D4A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9875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F5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1298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F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#1A2D4A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91440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5EC4B2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9875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Mint Teal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63640" y="1298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#5EC4B2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F4BFA0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3134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Peach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26243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#F4BFA0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46120" y="224028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E8B84B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23134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Ochre Gold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26243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#E8B84B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224028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FBF5EC"/>
          </a:solidFill>
          <a:ln w="6350">
            <a:solidFill>
              <a:srgbClr val="C8BF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23134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26243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#FBF5EC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56616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6B7C4E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6393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F5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Olive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3950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F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#6B7C4E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46120" y="356616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2D2D2D"/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0" y="36393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F5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Charcoal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83280" y="3950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F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#2D2D2D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3566160"/>
            <a:ext cx="2514600" cy="777240"/>
          </a:xfrm>
          <a:prstGeom prst="roundRect">
            <a:avLst>
              <a:gd name="adj" fmla="val 7059"/>
            </a:avLst>
          </a:prstGeom>
          <a:solidFill>
            <a:srgbClr val="A89888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36393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F5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 Gray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63640" y="3950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F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#A89888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6177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C4B8A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617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C4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600" dirty="0"/>
          </a:p>
        </p:txBody>
      </p:sp>
      <p:sp>
        <p:nvSpPr>
          <p:cNvPr id="3" name="Text 1"/>
          <p:cNvSpPr/>
          <p:nvPr/>
        </p:nvSpPr>
        <p:spPr>
          <a:xfrm>
            <a:off x="1828800" y="4617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C4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TERRAZZO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Color in Context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1A2D4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F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RULES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Cream as the primary canvas — warm, not clinical white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High contrast pairings: Navy + Coral, Teal + Ochre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6654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Bold flat color fields, not gradients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41401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Use color to create rhythm and emphasis, not decoration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960120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1A2D4A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9601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F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 PAIRINGS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846320" y="137160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1A2D4A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50876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6F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4846320" y="24231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6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 + Coral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03720" y="137160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5EC4B2"/>
          </a:solidFill>
          <a:ln/>
        </p:spPr>
      </p:sp>
      <p:sp>
        <p:nvSpPr>
          <p:cNvPr id="17" name="Text 15"/>
          <p:cNvSpPr/>
          <p:nvPr/>
        </p:nvSpPr>
        <p:spPr>
          <a:xfrm>
            <a:off x="6903720" y="150876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A2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6903720" y="242316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Teal + Navy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306324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E86F5A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20040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BF5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4846320" y="41148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F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Coral + Cream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03720" y="3063240"/>
            <a:ext cx="1874520" cy="1508760"/>
          </a:xfrm>
          <a:prstGeom prst="roundRect">
            <a:avLst>
              <a:gd name="adj" fmla="val 4848"/>
            </a:avLst>
          </a:prstGeom>
          <a:solidFill>
            <a:srgbClr val="E8B84B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320040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A2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6903720" y="41148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Ochre + Navy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6177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C4B8A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5EC4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BF5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Typography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7132320" y="274320"/>
            <a:ext cx="2286000" cy="2286000"/>
          </a:xfrm>
          <a:prstGeom prst="ellipse">
            <a:avLst/>
          </a:prstGeom>
          <a:solidFill>
            <a:srgbClr val="1A2D4A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2743200"/>
            <a:ext cx="1645920" cy="1645920"/>
          </a:xfrm>
          <a:prstGeom prst="ellipse">
            <a:avLst/>
          </a:prstGeom>
          <a:solidFill>
            <a:srgbClr val="5EC4B2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617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1828800" y="4617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TERRAZZO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6177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8899A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617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C4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600" dirty="0"/>
          </a:p>
        </p:txBody>
      </p:sp>
      <p:sp>
        <p:nvSpPr>
          <p:cNvPr id="3" name="Text 1"/>
          <p:cNvSpPr/>
          <p:nvPr/>
        </p:nvSpPr>
        <p:spPr>
          <a:xfrm>
            <a:off x="1828800" y="4617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C4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TERRAZZO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 System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06040" cy="320040"/>
          </a:xfrm>
          <a:prstGeom prst="roundRect">
            <a:avLst>
              <a:gd name="adj" fmla="val 11429"/>
            </a:avLst>
          </a:prstGeom>
          <a:solidFill>
            <a:srgbClr val="E86F5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F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A2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Pixellance, Aperture, League Gothic, Zing Rust Base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 hero moments, poster treatments, and high-impact headers. These fonts carry the brand's kinetic energy.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06040" cy="320040"/>
          </a:xfrm>
          <a:prstGeom prst="roundRect">
            <a:avLst>
              <a:gd name="adj" fmla="val 11429"/>
            </a:avLst>
          </a:prstGeom>
          <a:solidFill>
            <a:srgbClr val="1A2D4A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0058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F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46120" y="1463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A2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 Grotesk Wide, Fraunces Bold &amp; Italic, ABeeZee Bold &amp; Italic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46120" y="228600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headers and mid-level hierarchy. Balances personality with readability at medium sizes.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606040" cy="320040"/>
          </a:xfrm>
          <a:prstGeom prst="roundRect">
            <a:avLst>
              <a:gd name="adj" fmla="val 11429"/>
            </a:avLst>
          </a:prstGeom>
          <a:solidFill>
            <a:srgbClr val="5EC4B2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0058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F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/ UI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26480" y="146304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A2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DM Sans, Emmali, Computer Says No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2286000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interface and body copy. Clean, highly legible, with enough character to feel on-brand at small sizes.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61188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1A2D4A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6118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F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REFERENCE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5760" y="3977640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5760" y="4206240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32-48pt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84832" y="3977640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Headers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084832" y="4206240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24-28pt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03904" y="3977640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Titles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803904" y="4206240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18-20pt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22976" y="3977640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22976" y="4206240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15-16pt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42048" y="3977640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9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242048" y="4206240"/>
            <a:ext cx="1572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12-13pt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6177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C4B8A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617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C4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600" dirty="0"/>
          </a:p>
        </p:txBody>
      </p:sp>
      <p:sp>
        <p:nvSpPr>
          <p:cNvPr id="3" name="Text 1"/>
          <p:cNvSpPr/>
          <p:nvPr/>
        </p:nvSpPr>
        <p:spPr>
          <a:xfrm>
            <a:off x="1828800" y="4617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C4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TERRAZZO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Positioning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920240" cy="256032"/>
          </a:xfrm>
          <a:prstGeom prst="roundRect">
            <a:avLst>
              <a:gd name="adj" fmla="val 14286"/>
            </a:avLst>
          </a:prstGeom>
          <a:solidFill>
            <a:srgbClr val="1A2D4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F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STATEMENT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822960"/>
          </a:xfrm>
          <a:prstGeom prst="roundRect">
            <a:avLst>
              <a:gd name="adj" fmla="val 6667"/>
            </a:avLst>
          </a:prstGeom>
          <a:solidFill>
            <a:srgbClr val="F4BFA0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17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1A2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culturally curious travelers who want trips shaped by taste, Terrazzo is the AI-powered travel platform that learns what moves you and surfaces places you'd never find on your own.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468880"/>
            <a:ext cx="2011680" cy="256032"/>
          </a:xfrm>
          <a:prstGeom prst="roundRect">
            <a:avLst>
              <a:gd name="adj" fmla="val 14286"/>
            </a:avLst>
          </a:prstGeom>
          <a:solidFill>
            <a:srgbClr val="1A2D4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4688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F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834640"/>
          <a:ext cx="8412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94560"/>
                <a:gridCol w="2194560"/>
                <a:gridCol w="26517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Mass Travel Apps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Luxury Concierge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86F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Terrazzo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Algorithmic / crowd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 / high-touch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6F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+ editorial taste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Audience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Everyone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Ultra-wealthy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6F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Design-minded 25-40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Generic / functional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Formal / exclusive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6F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Vivid / warm / opinionated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Discovery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Ratings &amp; reviews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Personal advisor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86F5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Taste vectors + signals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6177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C4B8A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617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C4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600" dirty="0"/>
          </a:p>
        </p:txBody>
      </p:sp>
      <p:sp>
        <p:nvSpPr>
          <p:cNvPr id="3" name="Text 1"/>
          <p:cNvSpPr/>
          <p:nvPr/>
        </p:nvSpPr>
        <p:spPr>
          <a:xfrm>
            <a:off x="1828800" y="4617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C4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TERRAZZO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&amp; Design References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1A2D4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F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Fortunato Depero — Italian Futurist posters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Mid-century travel poster tradition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Henri Matisse — organic cutout forms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Contemporary editorial design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926080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1A2D4A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9260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F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MAPPING</a:t>
            </a:r>
            <a:endParaRPr lang="en-US" sz="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46120"/>
          <a:ext cx="41148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We Take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We Leave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Depero's bold geometry + motion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Propaganda messaging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Poster tradition's color confidence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Dated illustration styles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Matisse's organic freedom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Abstract expressionist chaos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Editorial clarity + white space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Maximalist decoration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9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846320" y="914400"/>
            <a:ext cx="3931920" cy="1645920"/>
          </a:xfrm>
          <a:prstGeom prst="rect">
            <a:avLst/>
          </a:prstGeom>
          <a:solidFill>
            <a:srgbClr val="F5F0E8"/>
          </a:solidFill>
          <a:ln w="19050">
            <a:solidFill>
              <a:srgbClr val="A89888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4846320" y="16002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7B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 poster - organic curves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846320" y="2743200"/>
            <a:ext cx="3931920" cy="1645920"/>
          </a:xfrm>
          <a:prstGeom prst="rect">
            <a:avLst/>
          </a:prstGeom>
          <a:solidFill>
            <a:srgbClr val="F5F0E8"/>
          </a:solidFill>
          <a:ln w="19050">
            <a:solidFill>
              <a:srgbClr val="A89888"/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4846320" y="3429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7B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 poster - geometric composition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6177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C4B8A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617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C4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600" dirty="0"/>
          </a:p>
        </p:txBody>
      </p:sp>
      <p:sp>
        <p:nvSpPr>
          <p:cNvPr id="3" name="Text 1"/>
          <p:cNvSpPr/>
          <p:nvPr/>
        </p:nvSpPr>
        <p:spPr>
          <a:xfrm>
            <a:off x="1828800" y="4617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C4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TERRAZZO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in Action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following examples show how the Terrazzo brand system comes alive across poster art, digital surfaces, and marketing materials.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023360" cy="1600200"/>
          </a:xfrm>
          <a:prstGeom prst="rect">
            <a:avLst/>
          </a:prstGeom>
          <a:solidFill>
            <a:srgbClr val="F5F0E8"/>
          </a:solidFill>
          <a:ln w="19050">
            <a:solidFill>
              <a:srgbClr val="A89888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65760" y="20345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7B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Bold color fields poster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4023360" cy="1600200"/>
          </a:xfrm>
          <a:prstGeom prst="rect">
            <a:avLst/>
          </a:prstGeom>
          <a:solidFill>
            <a:srgbClr val="F5F0E8"/>
          </a:solidFill>
          <a:ln w="19050">
            <a:solidFill>
              <a:srgbClr val="A89888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663440" y="20345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7B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Geometric composition poster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3154680"/>
            <a:ext cx="4023360" cy="1600200"/>
          </a:xfrm>
          <a:prstGeom prst="rect">
            <a:avLst/>
          </a:prstGeom>
          <a:solidFill>
            <a:srgbClr val="F5F0E8"/>
          </a:solidFill>
          <a:ln w="19050">
            <a:solidFill>
              <a:srgbClr val="A89888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365760" y="38176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7B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Bold patterns poster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3154680"/>
            <a:ext cx="4023360" cy="1600200"/>
          </a:xfrm>
          <a:prstGeom prst="rect">
            <a:avLst/>
          </a:prstGeom>
          <a:solidFill>
            <a:srgbClr val="F5F0E8"/>
          </a:solidFill>
          <a:ln w="19050">
            <a:solidFill>
              <a:srgbClr val="A89888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663440" y="38176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7B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event poster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6177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C4B8A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617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C4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600" dirty="0"/>
          </a:p>
        </p:txBody>
      </p:sp>
      <p:sp>
        <p:nvSpPr>
          <p:cNvPr id="3" name="Text 1"/>
          <p:cNvSpPr/>
          <p:nvPr/>
        </p:nvSpPr>
        <p:spPr>
          <a:xfrm>
            <a:off x="1828800" y="4617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C4B8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TERRAZZO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Messaging Framework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1A2D4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F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ELEVATOR PITCH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1A2D4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17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BF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Terrazzo learns your taste in travel and finds the places that match it — the hidden trattoria, the boutique with the perfect light, the neighborhood that feels like yours.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2286000" cy="256032"/>
          </a:xfrm>
          <a:prstGeom prst="roundRect">
            <a:avLst>
              <a:gd name="adj" fmla="val 14286"/>
            </a:avLst>
          </a:prstGeom>
          <a:solidFill>
            <a:srgbClr val="1A2D4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2860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F5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MESSAGES BY AUDIENCE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2697480"/>
            <a:ext cx="26060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A898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7889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Design-Minded Travelers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15468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trips should reflect your taste. Terrazzo understands what moves you and builds journeys around it.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2697480"/>
            <a:ext cx="26060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A898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27889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Cultural Explorers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315468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beyond the guidebook. Terrazzo surfaces the places that locals love and tourists never find.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2697480"/>
            <a:ext cx="26060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6350">
            <a:solidFill>
              <a:srgbClr val="A898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27889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Partners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315468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travelers who value craft, curation, and authenticity. Terrazzo's taste intelligence connects you to your ideal audience.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6177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C4B8A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486400" cy="5486400"/>
          </a:xfrm>
          <a:prstGeom prst="ellipse">
            <a:avLst/>
          </a:prstGeom>
          <a:solidFill>
            <a:srgbClr val="E86F5A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1371600"/>
            <a:ext cx="5486400" cy="5486400"/>
          </a:xfrm>
          <a:prstGeom prst="ellipse">
            <a:avLst/>
          </a:prstGeom>
          <a:solidFill>
            <a:srgbClr val="5EC4B2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BF5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TERRAZZO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B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KINETIC DREAMER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EC4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Travel like it's a masterpiece in motion.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2026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2026-03-13T17:21:08Z</dcterms:created>
  <dcterms:modified xsi:type="dcterms:W3CDTF">2026-03-13T17:21:08Z</dcterms:modified>
</cp:coreProperties>
</file>